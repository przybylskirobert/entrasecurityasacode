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22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</p:sldIdLst>
  <p:sldSz cx="12192000" cy="6858000"/>
  <p:notesSz cx="6858000" cy="9144000"/>
  <p:defaultTextStyle>
    <a:defPPr defTabSz="457200">
      <a:defRPr lang="en-US" dirty="0"/>
    </a:defPPr>
    <a:lvl1pPr marL="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B6E9336-4204-4DF0-A263-84CA071BED4C}">
          <p14:sldIdLst/>
        </p14:section>
        <p14:section name="Report-only Policies" id="{60BDB0B4-4641-417C-A47C-D275B438D02A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0078D4"/>
    <a:srgbClr val="54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/>
    <p:restoredTop sz="96966"/>
  </p:normalViewPr>
  <p:slideViewPr>
    <p:cSldViewPr snapToGrid="0" snapToObjects="1">
      <p:cViewPr varScale="1">
        <p:scale>
          <a:sx n="128" d="100"/>
          <a:sy n="128" d="100"/>
        </p:scale>
        <p:origin x="9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884613" y="0"/>
            <a:ext cx="2971800" cy="45878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pPr algn="r"/>
            <a:fld id="{A1FA69C1-A850-4B1B-A478-2421DDDA9630}" type="datetimeFigureOut">
              <a:rPr lang="en-US"/>
              <a:t>5/14/25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685800" y="1143000"/>
            <a:ext cx="5486400" cy="3086100"/>
          </a:xfrm>
          <a:prstGeom prst="rect">
            <a:avLst/>
          </a:prstGeom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85800" y="4400550"/>
            <a:ext cx="5486400" cy="36004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/>
          <a:p>
            <a:r>
              <a:t>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884613" y="8685213"/>
            <a:ext cx="2971800" cy="45878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pPr algn="r"/>
            <a:fld id="{06AEA520-9CFD-4367-99E4-9512F40F5FA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  <a:ea typeface="Calibri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- 000 - GLOBAL - DENY - Legacy Authentication</a:t>
            </a:r>
          </a:p>
          <a:p>
            <a:r>
              <a:t>Portal link: https://entra.microsoft.com/#view/Microsoft_AAD_ConditionalAccess/PolicyBlade/policyId/1bb88ad2-e333-40f6-829b-765233a2631c
</a:t>
            </a:r>
          </a:p>
          <a:p>
            <a:r>
              <a:t>{
  "id": "1bb88ad2-e333-40f6-829b-765233a2631c",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"exchangeActiveSync",
      "other"
    ],
    "signInRiskLevels": [],
    "userRiskLevels": [],
    "users": {
      "excludeGroups": [
        "527069b3-b81d-4972-b27a-3bdd4b9f97ad",
        "d57e91f4-b0e7-4411-944f-7791a22ac41d"
      ],
      "excludeRoles": [],
      "excludeUsers": [],
      "includeGroups": [],
      "includeRoles": [],
      "includeUsers": [
        "All"
      ]
    },
    "times": null
  },
  "createdDateTime": "2025-05-14T19:30:18.0253959\u002B00:00",
  "displayName": "LAB - 000 - GLOBAL - DENY - Legacy Authentication",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"https://graph.microsoft.com/beta/$metadata#policies/conditionalAccessPolicies(\u00271bb88ad2-e333-40f6-829b-765233a2631c\u0027)/grantControls/authenticationStrength/$entity"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BDE99CF4-5CBC-4528-8F23-5E0330C1A6D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- 005 - GLOBAL - DENY - Device Code Auth Flow</a:t>
            </a:r>
          </a:p>
          <a:p>
            <a:r>
              <a:t>Portal link: https://entra.microsoft.com/#view/Microsoft_AAD_ConditionalAccess/PolicyBlade/policyId/1f1d77be-a4ec-4ffb-a61c-7bfa8c2f25db
</a:t>
            </a:r>
          </a:p>
          <a:p>
            <a:r>
              <a:t>{
  "id": "1f1d77be-a4ec-4ffb-a61c-7bfa8c2f25db",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"527069b3-b81d-4972-b27a-3bdd4b9f97ad",
        "a8cc5974-85e8-404e-a8bc-4083891198a1"
      ],
      "excludeRoles": [],
      "excludeUsers": [],
      "includeGroups": [],
      "includeRoles": [],
      "includeUsers": [
        "All"
      ]
    },
    "times": null,
    "authenticationFlows": {
      "transferMethods": "deviceCodeFlow,authenticationTransfer"
    }
  },
  "createdDateTime": "2025-05-14T19:30:19.4945912\u002B00:00",
  "displayName": "LAB - 005 - GLOBAL - DENY - Device Code Auth Flow",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"https://graph.microsoft.com/beta/$metadata#policies/conditionalAccessPolicies(\u00271f1d77be-a4ec-4ffb-a61c-7bfa8c2f25db\u0027)/grantControls/authenticationStrength/$entity"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904D9E1-0AFD-4605-BB15-FAC12C3AE7C0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- 010 - GLOBAL - DENY - Device Platforms</a:t>
            </a:r>
          </a:p>
          <a:p>
            <a:r>
              <a:t>Portal link: https://entra.microsoft.com/#view/Microsoft_AAD_ConditionalAccess/PolicyBlade/policyId/a8ad6b4e-ebc2-4ef5-984d-beb315268687
</a:t>
            </a:r>
          </a:p>
          <a:p>
            <a:r>
              <a:t>{
  "id": "a8ad6b4e-ebc2-4ef5-984d-beb315268687",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"platforms": {
      "excludePlatforms": [
        "android",
        "iOS",
        "windows",
        "macOS"
      ],
      "includePlatforms": [
        "all"
      ]
    },
    "signInRiskLevels": [],
    "userRiskLevels": [],
    "users": {
      "excludeGroups": [
        "527069b3-b81d-4972-b27a-3bdd4b9f97ad",
        "a1e4ae88-e560-4fb7-9709-c559f4420146"
      ],
      "excludeRoles": [],
      "excludeUsers": [],
      "includeGroups": [],
      "includeRoles": [],
      "includeUsers": [
        "All"
      ]
    },
    "times": null
  },
  "createdDateTime": "2025-05-14T19:30:20.9251571\u002B00:00",
  "displayName": "LAB - 010 - GLOBAL - DENY - Device Platforms",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"https://graph.microsoft.com/beta/$metadata#policies/conditionalAccessPolicies(\u0027a8ad6b4e-ebc2-4ef5-984d-beb315268687\u0027)/grantControls/authenticationStrength/$entity"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2B0ABDB-583D-4778-94F1-6B9DBDFFA44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- 015 - GLOBAL - DENY - Block Countries with exception</a:t>
            </a:r>
          </a:p>
          <a:p>
            <a:r>
              <a:t>Portal link: https://entra.microsoft.com/#view/Microsoft_AAD_ConditionalAccess/PolicyBlade/policyId/a0a3aa6a-7f6d-4d99-ad12-a52f19a12117
</a:t>
            </a:r>
          </a:p>
          <a:p>
            <a:r>
              <a:t>{
  "id": "a0a3aa6a-7f6d-4d99-ad12-a52f19a12117",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"17230c7b-1552-4fc6-978a-59a9789b07cb"
      ],
      "includeLocations": [
        "All"
      ]
    },
    "signInRiskLevels": [],
    "userRiskLevels": [],
    "users": {
      "excludeGroups": [
        "527069b3-b81d-4972-b27a-3bdd4b9f97ad",
        "d9ff8433-259b-4cac-b4e7-192e7e52a8ed"
      ],
      "excludeRoles": [],
      "excludeUsers": [],
      "includeGroups": [],
      "includeRoles": [],
      "includeUsers": [
        "All"
      ]
    },
    "times": null
  },
  "createdDateTime": "2025-05-14T19:30:22.715092\u002B00:00",
  "displayName": "LAB - 015 - GLOBAL - DENY - Block Countries with exception",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"https://graph.microsoft.com/beta/$metadata#policies/conditionalAccessPolicies(\u0027a0a3aa6a-7f6d-4d99-ad12-a52f19a12117\u0027)/grantControls/authenticationStrength/$entity"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F347A047-7E00-4554-9335-13966A9E8E7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- 020 - GLOBAL - DENY - Blocked Risky Countries</a:t>
            </a:r>
          </a:p>
          <a:p>
            <a:r>
              <a:t>Portal link: https://entra.microsoft.com/#view/Microsoft_AAD_ConditionalAccess/PolicyBlade/policyId/73ae3db6-d6dc-4e5c-8e7a-c22d4f2584e8
</a:t>
            </a:r>
          </a:p>
          <a:p>
            <a:r>
              <a:t>{
  "id": "73ae3db6-d6dc-4e5c-8e7a-c22d4f2584e8",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[],
      "includeLocations": [
        "1f3f64c1-76e6-4117-84a5-40f6ef2b453f"
      ]
    },
    "signInRiskLevels": [],
    "userRiskLevels": [],
    "users": {
      "excludeGroups": [
        "527069b3-b81d-4972-b27a-3bdd4b9f97ad",
        "1a05ca42-d953-46b5-a1d4-7719c83c1f62"
      ],
      "excludeRoles": [],
      "excludeUsers": [],
      "includeGroups": [],
      "includeRoles": [],
      "includeUsers": [
        "All"
      ]
    },
    "times": null
  },
  "createdDateTime": "2025-05-14T19:30:24.2790144\u002B00:00",
  "displayName": "LAB - 020 - GLOBAL - DENY - Blocked Risky Countries",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"https://graph.microsoft.com/beta/$metadata#policies/conditionalAccessPolicies(\u002773ae3db6-d6dc-4e5c-8e7a-c22d4f2584e8\u0027)/grantControls/authenticationStrength/$entity"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8CFC3E09-9D21-4EA0-A88D-B3EFE64DFBBA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- 025 - GLOBAL - DENY - Service Accounts with exception</a:t>
            </a:r>
          </a:p>
          <a:p>
            <a:r>
              <a:t>Portal link: https://entra.microsoft.com/#view/Microsoft_AAD_ConditionalAccess/PolicyBlade/policyId/ae8d023a-a00d-4a51-bfa4-037c3de5c882
</a:t>
            </a:r>
          </a:p>
          <a:p>
            <a:r>
              <a:t>{
  "id": "ae8d023a-a00d-4a51-bfa4-037c3de5c882",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"locations": {
      "excludeLocations": [
        "0e58231c-edb1-4aca-b92a-b4183d4b6719"
      ],
      "includeLocations": [
        "All"
      ]
    },
    "signInRiskLevels": [],
    "userRiskLevels": [],
    "users": {
      "excludeGroups": [
        "527069b3-b81d-4972-b27a-3bdd4b9f97ad",
        "07b9f7fa-074b-49a3-9804-805560449674"
      ],
      "excludeRoles": [],
      "excludeUsers": [],
      "includeGroups": [
        "e1800c6b-5360-4d87-969d-6a943d0286bf"
      ],
      "includeRoles": [],
      "includeUsers": []
    },
    "times": null
  },
  "createdDateTime": "2025-05-14T19:30:25.8527266\u002B00:00",
  "displayName": "LAB - 025 - GLOBAL - DENY - Service Accounts with exception",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"https://graph.microsoft.com/beta/$metadata#policies/conditionalAccessPolicies(\u0027ae8d023a-a00d-4a51-bfa4-037c3de5c882\u0027)/grantControls/authenticationStrength/$entity"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AB4BD84-3F84-44F2-B53A-CF107892578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- 030 - GLOBAL - DENY - Access to Admin Portals for Guests</a:t>
            </a:r>
          </a:p>
          <a:p>
            <a:r>
              <a:t>Portal link: https://entra.microsoft.com/#view/Microsoft_AAD_ConditionalAccess/PolicyBlade/policyId/e3c15eb1-63b1-4be5-a781-8f18b661f8ff
</a:t>
            </a:r>
          </a:p>
          <a:p>
            <a:r>
              <a:t>{
  "id": "e3c15eb1-63b1-4be5-a781-8f18b661f8ff",
  "templateId": null,
  "partialEnablementStrategy": null,
  "conditions": {
    "applications": {
      "excludeApplications": [],
      "includeApplications": [
        "MicrosoftAdminPortals",
        "797f4846-ba00-4fd7-ba43-dac1f8f63013"
      ],
      "includeAuthenticationContextClassReferences": [],
      "includeUserActions": []
    },
    "clientAppTypes": [
      "all"
    ],
    "signInRiskLevels": [],
    "userRiskLevels": [],
    "users": {
      "excludeGroups": [
        "527069b3-b81d-4972-b27a-3bdd4b9f97ad",
        "d40561ab-7893-481a-b84e-2938748ccaf7"
      ],
      "excludeRoles": [],
      "excludeUsers": [],
      "includeGroups": [],
      "includeGuestsOrExternalUsers": {
        "externalTenants": {
          "membershipKind": "all",
          "@odata.type": "#microsoft.graph.conditionalAccessAllExternalTenants"
        },
        "guestOrExternalUserTypes": "unknownFutureValue"
      },
      "includeRoles": [],
      "includeUsers": []
    },
    "times": null
  },
  "createdDateTime": "2025-05-14T19:30:27.3404905\u002B00:00",
  "displayName": "LAB - 030 - GLOBAL - DENY - Access to Admin Portals for Guests",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"https://graph.microsoft.com/beta/$metadata#policies/conditionalAccessPolicies(\u0027e3c15eb1-63b1-4be5-a781-8f18b661f8ff\u0027)/grantControls/authenticationStrength/$entity"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78F1FF3-6E6E-4D0C-85D1-E9D8169DFA44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- 035 - GLOBAL - DENY - High Sign-in Risks</a:t>
            </a:r>
          </a:p>
          <a:p>
            <a:r>
              <a:t>Portal link: https://entra.microsoft.com/#view/Microsoft_AAD_ConditionalAccess/PolicyBlade/policyId/1b814bcd-62fd-4644-ae96-d93e11120583
</a:t>
            </a:r>
          </a:p>
          <a:p>
            <a:r>
              <a:t>{
  "id": "1b814bcd-62fd-4644-ae96-d93e11120583",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"high"
    ],
    "userRiskLevels": [],
    "users": {
      "excludeGroups": [
        "527069b3-b81d-4972-b27a-3bdd4b9f97ad",
        "6cb27d36-1b93-417e-a5b2-67574f354002"
      ],
      "excludeRoles": [],
      "excludeUsers": [],
      "includeGroups": [],
      "includeRoles": [],
      "includeUsers": [
        "All"
      ]
    },
    "times": null
  },
  "createdDateTime": "2025-05-14T19:30:29.1925612\u002B00:00",
  "displayName": "LAB - 035 - GLOBAL - DENY - High Sign-in Risks",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"https://graph.microsoft.com/beta/$metadata#policies/conditionalAccessPolicies(\u00271b814bcd-62fd-4644-ae96-d93e11120583\u0027)/grantControls/authenticationStrength/$entity"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040D8C9B-8E62-44B5-8CFF-7C13BDECF932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- 040 - GLOBAL - DENY - High User Risks</a:t>
            </a:r>
          </a:p>
          <a:p>
            <a:r>
              <a:t>Portal link: https://entra.microsoft.com/#view/Microsoft_AAD_ConditionalAccess/PolicyBlade/policyId/6429f7b5-a2e9-408b-8aba-8423eb826e70
</a:t>
            </a:r>
          </a:p>
          <a:p>
            <a:r>
              <a:t>{
  "id": "6429f7b5-a2e9-408b-8aba-8423eb826e70",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
      "high"
    ],
    "users": {
      "excludeGroups": [
        "527069b3-b81d-4972-b27a-3bdd4b9f97ad",
        "9d0f6735-c0bf-48c8-8af5-a453198fe8c6"
      ],
      "excludeRoles": [],
      "excludeUsers": [],
      "includeGroups": [],
      "includeRoles": [],
      "includeUsers": [
        "All"
      ]
    },
    "times": null
  },
  "createdDateTime": "2025-05-14T19:30:30.5210501\u002B00:00",
  "displayName": "LAB - 040 - GLOBAL - DENY - High User Risks",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"https://graph.microsoft.com/beta/$metadata#policies/conditionalAccessPolicies(\u00276429f7b5-a2e9-408b-8aba-8423eb826e70\u0027)/grantControls/authenticationStrength/$entity"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4E8E3E7-7D90-49FE-9A14-4345FF81B74C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- 045 - GLOBAL - DENY - Stolen Devices</a:t>
            </a:r>
          </a:p>
          <a:p>
            <a:r>
              <a:t>Portal link: https://entra.microsoft.com/#view/Microsoft_AAD_ConditionalAccess/PolicyBlade/policyId/ce11ff94-4875-4be0-8613-7524c8583f16
</a:t>
            </a:r>
          </a:p>
          <a:p>
            <a:r>
              <a:t>{
  "id": "ce11ff94-4875-4be0-8613-7524c8583f16",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"include",
        "rule": "device.displayName -eq \u0022AP-J24BT64\u0022 -or device.displayName -eq \u0022AP-2M2BT64\u0022 -or device.displayName -eq \u0022AP-6P2BT64\u0022 -or device.displayName -eq \u0022AP-DX3BT64\u0022 -or device.deviceId -eq \u002284c53f14-7317-45ba-b470-2ca7c9e13d13\u0022 -or device.deviceId -eq \u00225838a701-53f8-4fc7-91f1-4896dc237a35\u0022 -or device.deviceId -eq \u0022912abddb-7936-480a-8479-24f4f421caa2\u0022 -or device.deviceId -eq \u00226d77e2b8-5aed-4774-8aea-d1c92e2af281\u0022"
      },
      "excludeDevices": [],
      "excludeDeviceStates": [],
      "includeDevices": [],
      "includeDeviceStates": []
    },
    "signInRiskLevels": [],
    "userRiskLevels": [],
    "users": {
      "excludeGroups": [
        "527069b3-b81d-4972-b27a-3bdd4b9f97ad",
        "f0829b4e-91c5-4091-b355-23645607d843"
      ],
      "excludeRoles": [],
      "excludeUsers": [],
      "includeGroups": [],
      "includeRoles": [],
      "includeUsers": [
        "All"
      ]
    },
    "times": null
  },
  "createdDateTime": "2025-05-14T19:30:31.774432\u002B00:00",
  "displayName": "LAB - 045 - GLOBAL - DENY - Stolen Devices",
  "grantControls": {
    "builtInControls": [
      "block"
    ],
    "customAuthenticationFactors": [],
    "operator": "OR",
    "termsOfUse": [],
    "authenticationStrength@odata.context": "https://graph.microsoft.com/beta/$metadata#policies/conditionalAccessPolicies(\u0027ce11ff94-4875-4be0-8613-7524c8583f16\u0027)/grantControls/authenticationStrength/$entity"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8C9C5A1-2BFC-4B1D-88BD-EB722A0E0073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- 050 - GLOBAL - ALLOW - Medium Sign-in Risks</a:t>
            </a:r>
          </a:p>
          <a:p>
            <a:r>
              <a:t>Portal link: https://entra.microsoft.com/#view/Microsoft_AAD_ConditionalAccess/PolicyBlade/policyId/9ef0db3b-d6e6-47c0-aea2-71086b27cee2
</a:t>
            </a:r>
          </a:p>
          <a:p>
            <a:r>
              <a:t>{
  "id": "9ef0db3b-d6e6-47c0-aea2-71086b27cee2",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
      "medium"
    ],
    "userRiskLevels": [],
    "users": {
      "excludeGroups": [
        "527069b3-b81d-4972-b27a-3bdd4b9f97ad",
        "14ed7ed1-d8fb-47c5-a413-48f24084203c"
      ],
      "excludeRoles": [],
      "excludeUsers": [],
      "includeGroups": [],
      "includeRoles": [],
      "includeUsers": [
        "All"
      ]
    },
    "times": null
  },
  "createdDateTime": "2025-05-14T19:30:32.9865877\u002B00:00",
  "displayName": "LAB - 050 - GLOBAL - ALLOW - Medium Sign-in Risks",
  "grantControls": {
    "authenticationStrength": {
      "id": "00000000-0000-0000-0000-000000000002",
      "combinationConfigurations@odata.context": "https://graph.microsoft.com/beta/$metadata#policies/conditionalAccessPolicies(\u00279ef0db3b-d6e6-47c0-aea2-71086b27cee2\u0027)/grantControls/authenticationStrength/combinationConfigurations",
      "allowedCombinations": [
        "windowsHelloForBusiness",
        "fido2",
        "x509CertificateMultiFactor",
        "deviceBasedPush",
        "temporaryAccessPassOneTime",
        "temporaryAccessPassMultiUse",
        "microsoftAuthenticatorPush",
        "softwareOath",
        "hardwareOath",
        "sms",
        "voice",
        "federatedMultiFactor",
        "federatedMultiFactor",
        "federatedMultiFactor",
        "federatedSingleFactor",
        "federatedSingleFactor",
        "federatedMultiFactor"
      ],
      "combinationConfigurations": [],
      "createdDateTime": "2021-12-01T08:00:00\u002B00:00",
      "description": "Combinations of methods that satisfy strong authentication, such as a password \u002B SMS",
      "displayName": "Multifactor authentication",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"https://graph.microsoft.com/beta/$metadata#policies/conditionalAccessPolicies(\u00279ef0db3b-d6e6-47c0-aea2-71086b27cee2\u0027)/grantControls/authenticationStrength/$entity"
  },
  "sessionControls": {
    "signInFrequency": {
      "isEnabled": true,
      "@odata.type": "#microsoft.graph.signInFrequencySessionControl",
      "authenticationType": "primaryAndSecondaryAuthentication",
      "frequencyInterval": "everyTime"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059FEAA9-5871-4954-B01F-314439AC62C4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- 055 - GLOBAL - ALLOW - Medium User Risks</a:t>
            </a:r>
          </a:p>
          <a:p>
            <a:r>
              <a:t>Portal link: https://entra.microsoft.com/#view/Microsoft_AAD_ConditionalAccess/PolicyBlade/policyId/dddd5200-4ba9-4f4d-9e6b-7118d6369e20
</a:t>
            </a:r>
          </a:p>
          <a:p>
            <a:r>
              <a:t>{
  "id": "dddd5200-4ba9-4f4d-9e6b-7118d6369e20",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
      "medium"
    ],
    "users": {
      "excludeGroups": [
        "527069b3-b81d-4972-b27a-3bdd4b9f97ad",
        "02f8fbb7-8bf5-4cf1-b0e8-0d62a940a9df"
      ],
      "excludeRoles": [],
      "excludeUsers": [],
      "includeGroups": [],
      "includeRoles": [],
      "includeUsers": [
        "All"
      ]
    },
    "times": null
  },
  "createdDateTime": "2025-05-14T19:30:34.2359427\u002B00:00",
  "displayName": "LAB - 055 - GLOBAL - ALLOW - Medium User Risks",
  "grantControls": {
    "authenticationStrength": {
      "id": "00000000-0000-0000-0000-000000000002",
      "combinationConfigurations@odata.context": "https://graph.microsoft.com/beta/$metadata#policies/conditionalAccessPolicies(\u0027dddd5200-4ba9-4f4d-9e6b-7118d6369e20\u0027)/grantControls/authenticationStrength/combinationConfigurations",
      "allowedCombinations": [
        "windowsHelloForBusiness",
        "fido2",
        "x509CertificateMultiFactor",
        "deviceBasedPush",
        "temporaryAccessPassOneTime",
        "temporaryAccessPassMultiUse",
        "microsoftAuthenticatorPush",
        "softwareOath",
        "hardwareOath",
        "sms",
        "voice",
        "federatedMultiFactor",
        "federatedMultiFactor",
        "federatedMultiFactor",
        "federatedSingleFactor",
        "federatedSingleFactor",
        "federatedMultiFactor"
      ],
      "combinationConfigurations": [],
      "createdDateTime": "2021-12-01T08:00:00\u002B00:00",
      "description": "Combinations of methods that satisfy strong authentication, such as a password \u002B SMS",
      "displayName": "Multifactor authentication",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"https://graph.microsoft.com/beta/$metadata#policies/conditionalAccessPolicies(\u0027dddd5200-4ba9-4f4d-9e6b-7118d6369e20\u0027)/grantControls/authenticationStrength/$entity"
  },
  "sessionControls": {
    "signInFrequency": {
      "isEnabled": true,
      "@odata.type": "#microsoft.graph.signInFrequencySessionControl",
      "authenticationType": "primaryAndSecondaryAuthentication",
      "frequencyInterval": "everyTime"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A5ADB29-9E83-4042-918F-7B639174770F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- 060 - GLOBAL - ALLOW - Admins with PR MFA</a:t>
            </a:r>
          </a:p>
          <a:p>
            <a:r>
              <a:t>Portal link: https://entra.microsoft.com/#view/Microsoft_AAD_ConditionalAccess/PolicyBlade/policyId/25a25343-1b6d-42ef-9b5a-da81f4455270
</a:t>
            </a:r>
          </a:p>
          <a:p>
            <a:r>
              <a:t>{
  "id": "25a25343-1b6d-42ef-9b5a-da81f4455270",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"527069b3-b81d-4972-b27a-3bdd4b9f97ad",
        "a22fe9f1-4757-4930-b463-e5000cfe43a7"
      ],
      "excludeRoles": [],
      "excludeUsers": [],
      "includeGroups": [],
      "includeRoles": [
        "9b895d92-2cd3-44c7-9d02-a6ac2d5ea5c3",
        "0526716b-113d-4c15-b2c8-68e3c22b9f80",
        "158c047a-c907-4556-b7ef-446551a6b5f7",
        "17315797-102d-40b4-93e0-432062caca18",
        "e6d1a23a-da11-4be4-9570-befc86d067a7",
        "b1be1c3e-b65d-4f19-8427-f6fa0d97feb9",
        "62e90394-69f5-4237-9190-012177145e10",
        "8ac3fc64-6eca-42ea-9e69-59f4c7b60eb2",
        "7be44c8a-adaf-4e2a-84d6-ab2649e08a13",
        "e8611ab8-c189-46e8-94e1-60213ab1f814",
        "194ae4cb-b126-40b2-bd5b-6091b380977d"
      ],
      "includeUsers": []
    },
    "times": null
  },
  "createdDateTime": "2025-05-14T19:30:35.5331951\u002B00:00",
  "displayName": "LAB - 060 - GLOBAL - ALLOW - Admins with PR MFA",
  "grantControls": {
    "authenticationStrength": {
      "id": "00000000-0000-0000-0000-000000000004",
      "combinationConfigurations@odata.context": "https://graph.microsoft.com/beta/$metadata#policies/conditionalAccessPolicies(\u002725a25343-1b6d-42ef-9b5a-da81f4455270\u0027)/grantControls/authenticationStrength/combinationConfigurations",
      "allowedCombinations": [
        "windowsHelloForBusiness",
        "fido2",
        "x509CertificateMultiFactor"
      ],
      "combinationConfigurations": [],
      "createdDateTime": "2021-12-01T08:00:00\u002B00:00",
      "description": "Phishing-resistant, Passwordless methods for the strongest authentication, such as a FIDO2 security key",
      "displayName": "Phishing-resistant MFA",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"https://graph.microsoft.com/beta/$metadata#policies/conditionalAccessPolicies(\u002725a25343-1b6d-42ef-9b5a-da81f4455270\u0027)/grantControls/authenticationStrength/$entity"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C70E2B31-809C-4EDC-B2E1-694E44A32CCD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- 065 - GLOBAL - ALLOW - Mobile apps and desktop clients</a:t>
            </a:r>
          </a:p>
          <a:p>
            <a:r>
              <a:t>Portal link: https://entra.microsoft.com/#view/Microsoft_AAD_ConditionalAccess/PolicyBlade/policyId/4f8c4af1-27da-4077-b311-2e718b46ec0b
</a:t>
            </a:r>
          </a:p>
          <a:p>
            <a:r>
              <a:t>{
  "id": "4f8c4af1-27da-4077-b311-2e718b46ec0b",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"mobileAppsAndDesktopClients"
    ],
    "platforms": {
      "excludePlatforms": [],
      "includePlatforms": [
        "android",
        "iOS"
      ]
    },
    "signInRiskLevels": [],
    "userRiskLevels": [],
    "users": {
      "excludeGroups": [
        "527069b3-b81d-4972-b27a-3bdd4b9f97ad",
        "fdff6d5a-b827-4698-a17e-1761a4f1acf4",
        "9fb67c0c-814a-477c-b0b6-28f200b30a27"
      ],
      "excludeRoles": [
        "d29b2b05-8046-44ba-8758-1e26182fcf32"
      ],
      "excludeUsers": [],
      "includeGroups": [],
      "includeRoles": [],
      "includeUsers": [
        "All"
      ]
    },
    "times": null
  },
  "createdDateTime": "2025-05-14T19:30:36.9772474\u002B00:00",
  "displayName": "LAB - 065 - GLOBAL - ALLOW - Mobile apps and desktop clients",
  "grantControls": {
    "builtInControls": [
      "compliantApplication"
    ],
    "customAuthenticationFactors": [],
    "operator": "OR",
    "termsOfUse": [],
    "authenticationStrength@odata.context": "https://graph.microsoft.com/beta/$metadata#policies/conditionalAccessPolicies(\u00274f8c4af1-27da-4077-b311-2e718b46ec0b\u0027)/grantControls/authenticationStrength/$entity"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1D236964-B7CC-4291-A4B5-7C8B6F099DC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- 070 - GLOBAL - ALLOW - Users with MFA</a:t>
            </a:r>
          </a:p>
          <a:p>
            <a:r>
              <a:t>Portal link: https://entra.microsoft.com/#view/Microsoft_AAD_ConditionalAccess/PolicyBlade/policyId/9151dec2-86e8-42d4-9641-24ce6edc0c23
</a:t>
            </a:r>
          </a:p>
          <a:p>
            <a:r>
              <a:t>{
  "id": "9151dec2-86e8-42d4-9641-24ce6edc0c23",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"527069b3-b81d-4972-b27a-3bdd4b9f97ad",
        "fdff6d5a-b827-4698-a17e-1761a4f1acf4",
        "fbf4d2c5-57fd-4233-9fd2-6cd1914759c6"
      ],
      "excludeRoles": [
        "9b895d92-2cd3-44c7-9d02-a6ac2d5ea5c3",
        "0526716b-113d-4c15-b2c8-68e3c22b9f80",
        "158c047a-c907-4556-b7ef-446551a6b5f7",
        "17315797-102d-40b4-93e0-432062caca18",
        "e6d1a23a-da11-4be4-9570-befc86d067a7",
        "b1be1c3e-b65d-4f19-8427-f6fa0d97feb9",
        "62e90394-69f5-4237-9190-012177145e10",
        "8ac3fc64-6eca-42ea-9e69-59f4c7b60eb2",
        "7be44c8a-adaf-4e2a-84d6-ab2649e08a13",
        "e8611ab8-c189-46e8-94e1-60213ab1f814",
        "194ae4cb-b126-40b2-bd5b-6091b380977d"
      ],
      "excludeUsers": [],
      "includeGroups": [],
      "includeRoles": [],
      "includeUsers": [
        "All"
      ]
    },
    "times": null
  },
  "createdDateTime": "2025-05-14T19:30:38.3103772\u002B00:00",
  "displayName": "LAB - 070 - GLOBAL - ALLOW - Users with MFA",
  "grantControls": {
    "authenticationStrength": {
      "id": "00000000-0000-0000-0000-000000000002",
      "combinationConfigurations@odata.context": "https://graph.microsoft.com/beta/$metadata#policies/conditionalAccessPolicies(\u00279151dec2-86e8-42d4-9641-24ce6edc0c23\u0027)/grantControls/authenticationStrength/combinationConfigurations",
      "allowedCombinations": [
        "windowsHelloForBusiness",
        "fido2",
        "x509CertificateMultiFactor",
        "deviceBasedPush",
        "temporaryAccessPassOneTime",
        "temporaryAccessPassMultiUse",
        "microsoftAuthenticatorPush",
        "softwareOath",
        "hardwareOath",
        "sms",
        "voice",
        "federatedMultiFactor",
        "federatedMultiFactor",
        "federatedMultiFactor",
        "federatedSingleFactor",
        "federatedSingleFactor",
        "federatedMultiFactor"
      ],
      "combinationConfigurations": [],
      "createdDateTime": "2021-12-01T08:00:00\u002B00:00",
      "description": "Combinations of methods that satisfy strong authentication, such as a password \u002B SMS",
      "displayName": "Multifactor authentication",
      "modifiedDateTime": "2021-12-01T08:00:00\u002B00:00",
      "policyType": "builtIn",
      "requirementsSatisfied": "mfa"
    },
    "builtInControls": [],
    "customAuthenticationFactors": [],
    "operator": "OR",
    "termsOfUse": [],
    "authenticationStrength@odata.context": "https://graph.microsoft.com/beta/$metadata#policies/conditionalAccessPolicies(\u00279151dec2-86e8-42d4-9641-24ce6edc0c23\u0027)/grantControls/authenticationStrength/$entity"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230EC424-3244-4760-9692-DAAB2CCC76D1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- 080 - GLOBAL - ALLOW - Users RegisterOrJoin device with MFA</a:t>
            </a:r>
          </a:p>
          <a:p>
            <a:r>
              <a:t>Portal link: https://entra.microsoft.com/#view/Microsoft_AAD_ConditionalAccess/PolicyBlade/policyId/6a3482a5-a879-4edb-9171-74bd8344fee7
</a:t>
            </a:r>
          </a:p>
          <a:p>
            <a:r>
              <a:t>{
  "id": "6a3482a5-a879-4edb-9171-74bd8344fee7",
  "templateId": null,
  "partialEnablementStrategy": null,
  "conditions": {
    "applications": {
      "excludeApplications": [],
      "includeApplications": [],
      "includeAuthenticationContextClassReferences": [],
      "includeUserActions": [
        "urn:user:registerdevice"
      ]
    },
    "clientAppTypes": [
      "all"
    ],
    "platforms": {
      "excludePlatforms": [],
      "includePlatforms": [
        "android",
        "iOS"
      ]
    },
    "signInRiskLevels": [],
    "userRiskLevels": [],
    "users": {
      "excludeGroups": [
        "527069b3-b81d-4972-b27a-3bdd4b9f97ad",
        "fdff6d5a-b827-4698-a17e-1761a4f1acf4",
        "e9f21c5e-c43e-4e30-ae61-466b94cc570d"
      ],
      "excludeRoles": [],
      "excludeUsers": [],
      "includeGroups": [],
      "includeRoles": [],
      "includeUsers": [
        "All"
      ]
    },
    "times": null
  },
  "createdDateTime": "2025-05-14T19:30:39.8766648\u002B00:00",
  "displayName": "LAB - 080 - GLOBAL - ALLOW - Users RegisterOrJoin device with MFA",
  "grantControls": {
    "builtInControls": [
      "mfa"
    ],
    "customAuthenticationFactors": [],
    "operator": "OR",
    "termsOfUse": [],
    "authenticationStrength@odata.context": "https://graph.microsoft.com/beta/$metadata#policies/conditionalAccessPolicies(\u00276a3482a5-a879-4edb-9171-74bd8344fee7\u0027)/grantControls/authenticationStrength/$entity"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77F3C19C-53F5-4D39-8A32-7D8F0B16E7E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- 100 - GLOBAL - CONTROL - Sign-In Frequency for Admins</a:t>
            </a:r>
          </a:p>
          <a:p>
            <a:r>
              <a:t>Portal link: https://entra.microsoft.com/#view/Microsoft_AAD_ConditionalAccess/PolicyBlade/policyId/de1621dc-c1f0-488e-9559-8fd5a87d7717
</a:t>
            </a:r>
          </a:p>
          <a:p>
            <a:r>
              <a:t>{
  "id": "de1621dc-c1f0-488e-9559-8fd5a87d7717",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"527069b3-b81d-4972-b27a-3bdd4b9f97ad",
        "61fb51d6-4e4a-4d79-bf43-057bc216a212"
      ],
      "excludeRoles": [],
      "excludeUsers": [],
      "includeGroups": [],
      "includeRoles": [
        "9b895d92-2cd3-44c7-9d02-a6ac2d5ea5c3",
        "0526716b-113d-4c15-b2c8-68e3c22b9f80",
        "158c047a-c907-4556-b7ef-446551a6b5f7",
        "17315797-102d-40b4-93e0-432062caca18",
        "e6d1a23a-da11-4be4-9570-befc86d067a7",
        "b1be1c3e-b65d-4f19-8427-f6fa0d97feb9",
        "62e90394-69f5-4237-9190-012177145e10",
        "8ac3fc64-6eca-42ea-9e69-59f4c7b60eb2",
        "7be44c8a-adaf-4e2a-84d6-ab2649e08a13",
        "e8611ab8-c189-46e8-94e1-60213ab1f814",
        "194ae4cb-b126-40b2-bd5b-6091b380977d"
      ],
      "includeUsers": []
    },
    "times": null
  },
  "createdDateTime": "2025-05-14T19:30:41.30154\u002B00:00",
  "displayName": "LAB - 100 - GLOBAL - CONTROL - Sign-In Frequency for Admins",
  "sessionControls": {
    "persistentBrowser": {
      "isEnabled": true,
      "@odata.type": "#microsoft.graph.persistentBrowserSessionControl",
      "mode": "never"
    },
    "signInFrequency": {
      "isEnabled": true,
      "@odata.type": "#microsoft.graph.signInFrequencySessionControl",
      "authenticationType": "primaryAndSecondaryAuthentication",
      "frequencyInterval": "timeBased",
      "type": "hours",
      "value": 8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0E41AD3-5A37-4918-A813-F712B8BECFF2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- 105 - GLOBAL - CONTROL - Sign-In Frequency for Users</a:t>
            </a:r>
          </a:p>
          <a:p>
            <a:r>
              <a:t>Portal link: https://entra.microsoft.com/#view/Microsoft_AAD_ConditionalAccess/PolicyBlade/policyId/881f824a-a5b6-407e-90f0-06ab31017c82
</a:t>
            </a:r>
          </a:p>
          <a:p>
            <a:r>
              <a:t>{
  "id": "881f824a-a5b6-407e-90f0-06ab31017c82",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"signInRiskLevels": [],
    "userRiskLevels": [],
    "users": {
      "excludeGroups": [
        "527069b3-b81d-4972-b27a-3bdd4b9f97ad",
        "fdff6d5a-b827-4698-a17e-1761a4f1acf4",
        "b05fac86-3d47-488a-a842-1e0d4af1cf83"
      ],
      "excludeRoles": [
        "9b895d92-2cd3-44c7-9d02-a6ac2d5ea5c3",
        "0526716b-113d-4c15-b2c8-68e3c22b9f80",
        "158c047a-c907-4556-b7ef-446551a6b5f7",
        "17315797-102d-40b4-93e0-432062caca18",
        "e6d1a23a-da11-4be4-9570-befc86d067a7",
        "b1be1c3e-b65d-4f19-8427-f6fa0d97feb9",
        "62e90394-69f5-4237-9190-012177145e10",
        "8ac3fc64-6eca-42ea-9e69-59f4c7b60eb2",
        "7be44c8a-adaf-4e2a-84d6-ab2649e08a13",
        "e8611ab8-c189-46e8-94e1-60213ab1f814",
        "194ae4cb-b126-40b2-bd5b-6091b380977d"
      ],
      "excludeUsers": [],
      "includeGroups": [],
      "includeRoles": [],
      "includeUsers": [
        "All"
      ]
    },
    "times": null
  },
  "createdDateTime": "2025-05-14T19:30:42.4349213\u002B00:00",
  "displayName": "LAB - 105 - GLOBAL - CONTROL - Sign-In Frequency for Users",
  "sessionControls": {
    "persistentBrowser": {
      "isEnabled": true,
      "@odata.type": "#microsoft.graph.persistentBrowserSessionControl",
      "mode": "never"
    },
    "signInFrequency": {
      "isEnabled": true,
      "@odata.type": "#microsoft.graph.signInFrequencySessionControl",
      "authenticationType": "primaryAndSecondaryAuthentication",
      "frequencyInterval": "timeBased",
      "type": "hours",
      "value": 8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A07D2BD-DE87-4850-96F6-AD7BD2360C34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- 110 - GLOBAL - CONTROL - BYOD devices</a:t>
            </a:r>
          </a:p>
          <a:p>
            <a:r>
              <a:t>Portal link: https://entra.microsoft.com/#view/Microsoft_AAD_ConditionalAccess/PolicyBlade/policyId/601f9f5d-485d-4d0b-a72d-1a29677bc4b2
</a:t>
            </a:r>
          </a:p>
          <a:p>
            <a:r>
              <a:t>{
  "id": "601f9f5d-485d-4d0b-a72d-1a29677bc4b2",
  "templateId": null,
  "partialEnablementStrategy": null,
  "conditions": {
    "applications": {
      "excludeApplications": [],
      "includeApplications": [
        "All"
      ],
      "includeAuthenticationContextClassReferences": [],
      "includeUserActions": []
    },
    "clientAppTypes": [
      "all"
    ],
    "devices": {
      "deviceFilter": {
        "mode": "exclude",
        "rule": "device.isCompliant -eq True"
      },
      "excludeDevices": [],
      "excludeDeviceStates": [],
      "includeDevices": [],
      "includeDeviceStates": []
    },
    "signInRiskLevels": [],
    "userRiskLevels": [],
    "users": {
      "excludeGroups": [
        "527069b3-b81d-4972-b27a-3bdd4b9f97ad",
        "186b265d-9966-40bb-9599-12fe81230751"
      ],
      "excludeGuestsOrExternalUsers": {
        "externalTenants": {
          "membershipKind": "all",
          "@odata.type": "#microsoft.graph.conditionalAccessAllExternalTenants"
        },
        "guestOrExternalUserTypes": "unknownFutureValue"
      },
      "excludeRoles": [],
      "excludeUsers": [],
      "includeGroups": [],
      "includeRoles": [],
      "includeUsers": [
        "All"
      ]
    },
    "times": null
  },
  "createdDateTime": "2025-05-14T19:30:44.1329804\u002B00:00",
  "displayName": "LAB - 110 - GLOBAL - CONTROL - BYOD devices",
  "sessionControls": {
    "persistentBrowser": {
      "isEnabled": true,
      "@odata.type": "#microsoft.graph.persistentBrowserSessionControl",
      "mode": "never"
    },
    "signInFrequency": {
      "isEnabled": true,
      "@odata.type": "#microsoft.graph.signInFrequencySessionControl",
      "authenticationType": "primaryAndSecondaryAuthentication",
      "frequencyInterval": "timeBased",
      "type": "hours",
      "value": 9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5B5830E4-2FE0-45AA-89F9-B6CC5AFCDF0B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LAB - 115 - GLOBAL - CONTROL - Register security information</a:t>
            </a:r>
          </a:p>
          <a:p>
            <a:r>
              <a:t>Portal link: https://entra.microsoft.com/#view/Microsoft_AAD_ConditionalAccess/PolicyBlade/policyId/3ddd4544-5ff4-4c6c-a6ac-0d1fa16208e9
</a:t>
            </a:r>
          </a:p>
          <a:p>
            <a:r>
              <a:t>{
  "id": "3ddd4544-5ff4-4c6c-a6ac-0d1fa16208e9",
  "templateId": null,
  "partialEnablementStrategy": null,
  "conditions": {
    "applications": {
      "excludeApplications": [],
      "includeApplications": [],
      "includeAuthenticationContextClassReferences": [],
      "includeUserActions": [
        "urn:user:registersecurityinfo"
      ]
    },
    "clientAppTypes": [
      "all"
    ],
    "signInRiskLevels": [],
    "userRiskLevels": [],
    "users": {
      "excludeGroups": [
        "527069b3-b81d-4972-b27a-3bdd4b9f97ad",
        "72e572dd-2b4f-4824-8113-f4c27fc7c87e"
      ],
      "excludeRoles": [],
      "excludeUsers": [],
      "includeGroups": [],
      "includeRoles": [],
      "includeUsers": [
        "All"
      ]
    },
    "times": null
  },
  "createdDateTime": "2025-05-14T19:30:55.5949624\u002B00:00",
  "displayName": "LAB - 115 - GLOBAL - CONTROL - Register security information",
  "sessionControls": {
    "signInFrequency": {
      "isEnabled": true,
      "@odata.type": "#microsoft.graph.signInFrequencySessionControl",
      "authenticationType": "primaryAndSecondaryAuthentication",
      "frequencyInterval": "everyTime"
    }
  },
  "state": "enabledForReportingButNotEnforced"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r"/>
            <a:fld id="{6354ED42-8E00-44FB-B25D-1952DF0FF3B1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 anchor="t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660C-50E5-B242-B3EF-2B7C8DA67512}" type="datetimeFigureOut">
              <a:rPr lang="en-US" dirty="0"/>
              <a:t>5/14/25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F179-5036-4446-AD0F-8A2B0CE1BCDE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56.svg"/><Relationship Id="rId55" Type="http://schemas.openxmlformats.org/officeDocument/2006/relationships/image" Target="../media/image5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49.png"/><Relationship Id="rId5" Type="http://schemas.openxmlformats.org/officeDocument/2006/relationships/image" Target="../media/image3.png"/><Relationship Id="rId10" Type="http://schemas.openxmlformats.org/officeDocument/2006/relationships/image" Target="../media/image54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48.svg"/><Relationship Id="rId4" Type="http://schemas.openxmlformats.org/officeDocument/2006/relationships/image" Target="../media/image2.svg"/><Relationship Id="rId9" Type="http://schemas.openxmlformats.org/officeDocument/2006/relationships/image" Target="../media/image53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56" Type="http://schemas.openxmlformats.org/officeDocument/2006/relationships/image" Target="../media/image52.svg"/><Relationship Id="rId8" Type="http://schemas.openxmlformats.org/officeDocument/2006/relationships/image" Target="../media/image6.sv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60.svg"/><Relationship Id="rId55" Type="http://schemas.openxmlformats.org/officeDocument/2006/relationships/image" Target="../media/image5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4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48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56" Type="http://schemas.openxmlformats.org/officeDocument/2006/relationships/image" Target="../media/image52.svg"/><Relationship Id="rId8" Type="http://schemas.openxmlformats.org/officeDocument/2006/relationships/image" Target="../media/image6.svg"/><Relationship Id="rId51" Type="http://schemas.openxmlformats.org/officeDocument/2006/relationships/image" Target="../media/image47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0.svg"/><Relationship Id="rId5" Type="http://schemas.openxmlformats.org/officeDocument/2006/relationships/image" Target="../media/image3.png"/><Relationship Id="rId10" Type="http://schemas.openxmlformats.org/officeDocument/2006/relationships/image" Target="../media/image62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49.png"/><Relationship Id="rId4" Type="http://schemas.openxmlformats.org/officeDocument/2006/relationships/image" Target="../media/image58.svg"/><Relationship Id="rId9" Type="http://schemas.openxmlformats.org/officeDocument/2006/relationships/image" Target="../media/image61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8.sv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63.jp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60.svg"/><Relationship Id="rId55" Type="http://schemas.openxmlformats.org/officeDocument/2006/relationships/image" Target="../media/image5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4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48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56" Type="http://schemas.openxmlformats.org/officeDocument/2006/relationships/image" Target="../media/image52.svg"/><Relationship Id="rId8" Type="http://schemas.openxmlformats.org/officeDocument/2006/relationships/image" Target="../media/image6.svg"/><Relationship Id="rId51" Type="http://schemas.openxmlformats.org/officeDocument/2006/relationships/image" Target="../media/image47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58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57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7.png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7.png"/><Relationship Id="rId55" Type="http://schemas.openxmlformats.org/officeDocument/2006/relationships/image" Target="../media/image52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6.sv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0.svg"/><Relationship Id="rId5" Type="http://schemas.openxmlformats.org/officeDocument/2006/relationships/image" Target="../media/image3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4" Type="http://schemas.openxmlformats.org/officeDocument/2006/relationships/image" Target="../media/image42.svg"/><Relationship Id="rId52" Type="http://schemas.openxmlformats.org/officeDocument/2006/relationships/image" Target="../media/image49.png"/><Relationship Id="rId4" Type="http://schemas.openxmlformats.org/officeDocument/2006/relationships/image" Target="../media/image58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64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8" Type="http://schemas.openxmlformats.org/officeDocument/2006/relationships/image" Target="../media/image6.svg"/><Relationship Id="rId51" Type="http://schemas.openxmlformats.org/officeDocument/2006/relationships/image" Target="../media/image48.svg"/><Relationship Id="rId3" Type="http://schemas.openxmlformats.org/officeDocument/2006/relationships/image" Target="../media/image5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20.svg"/><Relationship Id="rId41" Type="http://schemas.openxmlformats.org/officeDocument/2006/relationships/image" Target="../media/image39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65.svg"/><Relationship Id="rId49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- 000 - GLOBAL - DENY - Legacy Authentication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Exchange ActiveSync clients</a:t>
            </a:r>
          </a:p>
          <a:p>
            <a:pPr defTabSz="457200">
              <a:defRPr sz="1100" dirty="0"/>
            </a:pPr>
            <a:r>
              <a:t> - Other legacy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- 000 - GLOBAL - DENY - Legacy Authentication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- 005 - GLOBAL - DENY - Device Code Auth Flow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- 005 - GLOBAL - DENY - Device Code Auth Flow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- 010 - GLOBAL - DENY - Device Platforms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dirty="0"/>
            </a:pPr>
            <a:r>
              <a:t> - 💻 Windows</a:t>
            </a:r>
          </a:p>
          <a:p>
            <a:pPr defTabSz="457200">
              <a:defRPr sz="1100" dirty="0"/>
            </a:pPr>
            <a:r>
              <a:t> - 💻 macOS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- 010 - GLOBAL - DENY - Device Platforms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- 015 - GLOBAL - DENY - Block Countries with exception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LAB - Allowed Countries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- 015 - GLOBAL - DENY - Block Countries with exception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- 020 - GLOBAL - DENY - Blocked Risky Countries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LAB - Risky Countries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- 020 - GLOBAL - DENY - Blocked Risky Countries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Include - Service Accounts (0)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- 025 - GLOBAL - DENY - Service Accounts with exception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</a:t>
            </a:r>
          </a:p>
          <a:p>
            <a:pPr defTabSz="457200">
              <a:defRPr sz="1100" dirty="0"/>
            </a:pPr>
            <a:r>
              <a:t> - LAB - Trusted IPs for service accounts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- 025 - GLOBAL - DENY - Service Accounts with exception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Guest or external users</a:t>
            </a:r>
          </a:p>
          <a:p>
            <a:pPr defTabSz="457200">
              <a:defRPr sz="1100" b="1" dirty="0"/>
            </a:pPr>
            <a:r>
              <a:t>  All external Azure AD organizations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- 030 - GLOBAL - DENY - Access to Admin Portals for Guests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MicrosoftAdminPortals</a:t>
            </a:r>
          </a:p>
          <a:p>
            <a:pPr defTabSz="457200">
              <a:defRPr sz="1100" dirty="0"/>
            </a:pPr>
            <a:r>
              <a:t> - Windows Azure Service Management API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Selected cloud apps</a:t>
            </a:r>
          </a:p>
        </p:txBody>
      </p:sp>
      <p:pic>
        <p:nvPicPr>
          <p:cNvPr id="54" name="IconAccessSelected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79318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3" name="IconAssignedToGuest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0750" y="2724875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- 030 - GLOBAL - DENY - Access to Admin Portals for Guests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- 035 - GLOBAL - DENY - High Sign-in Risks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- 035 - GLOBAL - DENY - High Sign-in Risks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- 040 - GLOBAL - DENY - High User Risks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High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- 040 - GLOBAL - DENY - High User Risks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- 045 - GLOBAL - DENY - Stolen Devices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Include when</a:t>
            </a:r>
          </a:p>
          <a:p>
            <a:pPr defTabSz="457200">
              <a:defRPr sz="1100" dirty="0"/>
            </a:pPr>
            <a:r>
              <a:t>device.displayName -eq "AP-J24BT64" -or device.displayName -eq "AP-2M2BT64" -or device.displayName -eq "AP-6P2BT64" -or device.displayName -eq "AP-DX3BT64" -or device.deviceId -eq "84c53f14-7317-45ba-b470-2ca7c9e13d13" -or device.deviceId -eq "5838a701-53f8-4fc7-91f1-4896dc237a35" -or device.deviceId -eq "912abddb-7936-480a-8479-24f4f421caa2" -or device.deviceId -eq "6d77e2b8-5aed-4774-8aea-d1c92e2af281"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conBlockAccess" descr="Picture with red color stop sign to indicate blocked access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6633" y="2735805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4" name="GrantLabelBlockAccess"/>
          <p:cNvSpPr txBox="1">
            <a:spLocks noChangeArrowheads="1"/>
          </p:cNvSpPr>
          <p:nvPr/>
        </p:nvSpPr>
        <p:spPr bwMode="white">
          <a:xfrm>
            <a:off x="3936931" y="2734375"/>
            <a:ext cx="1358065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FF0000"/>
                </a:solidFill>
              </a:rPr>
              <a:t>Block access</a:t>
            </a:r>
          </a:p>
        </p:txBody>
      </p:sp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- 045 - GLOBAL - DENY - Stolen Devices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- 050 - GLOBAL - ALLOW - Medium Sign-in Risks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Sign-in risk: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strength:Multifactor authentication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- 050 - GLOBAL - ALLOW - Medium Sign-in Risks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- 055 - GLOBAL - ALLOW - Medium User Risks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User risk:</a:t>
            </a:r>
          </a:p>
          <a:p>
            <a:pPr defTabSz="457200">
              <a:defRPr sz="1100" dirty="0"/>
            </a:pPr>
            <a:r>
              <a:t> - Medium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strength:Multifactor authentication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- 055 - GLOBAL - ALLOW - Medium User Risks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- 060 - GLOBAL - ALLOW - Admins with PR MFA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strength:Phishing-resistant MFA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- 060 - GLOBAL - ALLOW - Admins with PR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Directory Synchronization Accounts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Service Accounts (0)</a:t>
            </a:r>
          </a:p>
          <a:p>
            <a:pPr defTabSz="457200">
              <a:defRPr sz="1100" dirty="0"/>
            </a:pPr>
            <a:r>
              <a:t> - LAB - CA Exclude - 065 - GLOBAL - ALLOW - Mobile apps and desktop clients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 - Mobile app and desktop clients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- 065 - GLOBAL - ALLOW - Mobile apps and desktop clients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Service Accounts (0)</a:t>
            </a:r>
          </a:p>
          <a:p>
            <a:pPr defTabSz="457200">
              <a:defRPr sz="1100" dirty="0"/>
            </a:pPr>
            <a:r>
              <a:t> - LAB - CA Exclude - 070 - GLOBAL - ALLOW - Users with MFA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 strength:Multifactor authentication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- 070 - GLOBAL - ALLOW - Users with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Service Accounts (0)</a:t>
            </a:r>
          </a:p>
          <a:p>
            <a:pPr defTabSz="457200">
              <a:defRPr sz="1100" dirty="0"/>
            </a:pPr>
            <a:r>
              <a:t> - LAB - CA Exclude - 080 - GLOBAL - ALLOW - Users RegisterOrJoin device with MFA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</a:t>
            </a:r>
          </a:p>
          <a:p>
            <a:pPr defTabSz="457200">
              <a:defRPr sz="1100" dirty="0"/>
            </a:pPr>
            <a:r>
              <a:t> - 📱Android</a:t>
            </a:r>
          </a:p>
          <a:p>
            <a:pPr defTabSz="457200">
              <a:defRPr sz="1100" dirty="0"/>
            </a:pPr>
            <a:r>
              <a:t> - 📱 iOS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or join devices </a:t>
            </a:r>
          </a:p>
        </p:txBody>
      </p:sp>
      <p:pic>
        <p:nvPicPr>
          <p:cNvPr id="51" name="IconAccessRegisterOrJoinDevice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Periodic reauthentication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1" name="ShadeSessionSif"/>
          <p:cNvSpPr>
            <a:spLocks/>
          </p:cNvSpPr>
          <p:nvPr/>
        </p:nvSpPr>
        <p:spPr bwMode="white">
          <a:xfrm>
            <a:off x="9940787" y="4320077"/>
            <a:ext cx="2125728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25" name="PicAccessRegisterDevice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 r="4400" b="6054"/>
          <a:stretch>
            <a:fillRect/>
          </a:stretch>
        </p:blipFill>
        <p:spPr bwMode="white">
          <a:xfrm>
            <a:off x="5896533" y="3744401"/>
            <a:ext cx="3874103" cy="216309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- 080 - GLOBAL - ALLOW - Users RegisterOrJoin device with MFA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- 100 - GLOBAL - CONTROL - Sign-In Frequency for Admins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8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70" name="IconAssignedToRole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2391841" y="3225674"/>
            <a:ext cx="365760" cy="3657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5">
            <a:lum/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- 100 - GLOBAL - CONTROL - Sign-In Frequency for Admins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Directory roles</a:t>
            </a:r>
          </a:p>
          <a:p>
            <a:pPr defTabSz="457200">
              <a:defRPr sz="1100" dirty="0"/>
            </a:pPr>
            <a:r>
              <a:t> - Application Administrator</a:t>
            </a:r>
          </a:p>
          <a:p>
            <a:pPr defTabSz="457200">
              <a:defRPr sz="1100" dirty="0"/>
            </a:pPr>
            <a:r>
              <a:t> - Authentication Policy Administrator</a:t>
            </a:r>
          </a:p>
          <a:p>
            <a:pPr defTabSz="457200">
              <a:defRPr sz="1100" dirty="0"/>
            </a:pPr>
            <a:r>
              <a:t> - Cloud Application Administrator</a:t>
            </a:r>
          </a:p>
          <a:p>
            <a:pPr defTabSz="457200">
              <a:defRPr sz="1100" dirty="0"/>
            </a:pPr>
            <a:r>
              <a:t> - Compliance Administrator</a:t>
            </a:r>
          </a:p>
          <a:p>
            <a:pPr defTabSz="457200">
              <a:defRPr sz="1100" dirty="0"/>
            </a:pPr>
            <a:r>
              <a:t> - Compliance Data Administrator</a:t>
            </a:r>
          </a:p>
          <a:p>
            <a:pPr defTabSz="457200">
              <a:defRPr sz="1100" dirty="0"/>
            </a:pPr>
            <a:r>
              <a:t> - Conditional Access Administrator</a:t>
            </a:r>
          </a:p>
          <a:p>
            <a:pPr defTabSz="457200">
              <a:defRPr sz="1100" dirty="0"/>
            </a:pPr>
            <a:r>
              <a:t> - Global Administrator</a:t>
            </a:r>
          </a:p>
          <a:p>
            <a:pPr defTabSz="457200">
              <a:defRPr sz="1100" dirty="0"/>
            </a:pPr>
            <a:r>
              <a:t> - Hybrid Identity Administrator</a:t>
            </a:r>
          </a:p>
          <a:p>
            <a:pPr defTabSz="457200">
              <a:defRPr sz="1100" dirty="0"/>
            </a:pPr>
            <a:r>
              <a:t> - Privileged Authentication Administrator</a:t>
            </a:r>
          </a:p>
          <a:p>
            <a:pPr defTabSz="457200">
              <a:defRPr sz="1100" dirty="0"/>
            </a:pPr>
            <a:r>
              <a:t> - Privileged Role Administrator</a:t>
            </a:r>
          </a:p>
          <a:p>
            <a:pPr defTabSz="457200">
              <a:defRPr sz="1100" dirty="0"/>
            </a:pPr>
            <a:r>
              <a:t> - Security Administrator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Service Accounts (0)</a:t>
            </a:r>
          </a:p>
          <a:p>
            <a:pPr defTabSz="457200">
              <a:defRPr sz="1100" dirty="0"/>
            </a:pPr>
            <a:r>
              <a:t> - LAB - CA Exclude - 105 - GLOBAL - CONTROL - Sign-In Frequency for Users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8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- 105 - GLOBAL - CONTROL - Sign-In Frequency for Users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Guest or external users</a:t>
            </a:r>
          </a:p>
          <a:p>
            <a:pPr defTabSz="457200">
              <a:defRPr sz="1100" b="1" dirty="0"/>
            </a:pPr>
            <a:r>
              <a:t>  All external Azure AD organizations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- 110 - GLOBAL - CONTROL - BYOD devices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dirty="0"/>
            </a:pPr>
            <a:r>
              <a:t>Exclude when</a:t>
            </a:r>
          </a:p>
          <a:p>
            <a:pPr defTabSz="457200">
              <a:defRPr sz="1100" dirty="0"/>
            </a:pPr>
            <a:r>
              <a:t>device.isCompliant -eq True</a:t>
            </a:r>
          </a:p>
          <a:p>
            <a:pPr defTabSz="457200">
              <a:defRPr sz="1100" dirty="0"/>
            </a:pPr>
            <a:endParaRPr/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CloudAppActionIncExc"/>
          <p:cNvSpPr txBox="1">
            <a:spLocks noChangeArrowheads="1"/>
          </p:cNvSpPr>
          <p:nvPr/>
        </p:nvSpPr>
        <p:spPr bwMode="white">
          <a:xfrm>
            <a:off x="6039518" y="3662782"/>
            <a:ext cx="3649518" cy="315161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</p:txBody>
      </p:sp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All cloud apps</a:t>
            </a:r>
          </a:p>
        </p:txBody>
      </p:sp>
      <p:pic>
        <p:nvPicPr>
          <p:cNvPr id="75" name="IconAccessAllCloudApps"/>
          <p:cNvPicPr>
            <a:picLocks noChangeAspect="1"/>
          </p:cNvPicPr>
          <p:nvPr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 bwMode="white">
          <a:xfrm>
            <a:off x="6439264" y="2836824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9">
              <a:lum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9 hours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Never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1">
            <a:lum/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3">
            <a:lum/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49">
            <a:lum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- 110 - GLOBAL - CONTROL - BYOD devices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Workload"/>
          <p:cNvSpPr>
            <a:spLocks/>
          </p:cNvSpPr>
          <p:nvPr/>
        </p:nvSpPr>
        <p:spPr bwMode="auto">
          <a:xfrm>
            <a:off x="175820" y="2709769"/>
            <a:ext cx="2202823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Users</a:t>
            </a:r>
          </a:p>
        </p:txBody>
      </p:sp>
      <p:sp>
        <p:nvSpPr>
          <p:cNvPr id="7" name="UserWorkloadIncExc"/>
          <p:cNvSpPr txBox="1">
            <a:spLocks noChangeArrowheads="1"/>
          </p:cNvSpPr>
          <p:nvPr/>
        </p:nvSpPr>
        <p:spPr bwMode="white">
          <a:xfrm>
            <a:off x="125485" y="3698952"/>
            <a:ext cx="3062115" cy="313265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>
            <a:normAutofit/>
          </a:bodyPr>
          <a:lstStyle/>
          <a:p>
            <a:pPr defTabSz="457200">
              <a:defRPr sz="1100" b="1" dirty="0"/>
            </a:pPr>
            <a:r>
              <a:t>✅ Include:</a:t>
            </a:r>
          </a:p>
          <a:p>
            <a:pPr defTabSz="457200">
              <a:defRPr sz="1100" b="1" dirty="0"/>
            </a:pPr>
            <a:r>
              <a:t> Users</a:t>
            </a:r>
          </a:p>
          <a:p>
            <a:pPr defTabSz="457200">
              <a:defRPr sz="1100" dirty="0"/>
            </a:pPr>
            <a:r>
              <a:t> - All</a:t>
            </a:r>
          </a:p>
          <a:p>
            <a:pPr defTabSz="457200">
              <a:defRPr sz="1100" b="1" dirty="0"/>
            </a:pPr>
            <a:endParaRPr/>
          </a:p>
          <a:p>
            <a:pPr defTabSz="457200">
              <a:defRPr sz="1100" b="1" dirty="0"/>
            </a:pPr>
            <a:r>
              <a:t>🚫 Exclude:</a:t>
            </a:r>
          </a:p>
          <a:p>
            <a:pPr defTabSz="457200">
              <a:defRPr sz="1100" b="1" dirty="0"/>
            </a:pPr>
            <a:r>
              <a:t> Groups</a:t>
            </a:r>
          </a:p>
          <a:p>
            <a:pPr defTabSz="457200">
              <a:defRPr sz="1100" dirty="0"/>
            </a:pPr>
            <a:r>
              <a:t> - LAB - CA Exclude ALL (0)</a:t>
            </a:r>
          </a:p>
          <a:p>
            <a:pPr defTabSz="457200">
              <a:defRPr sz="1100" dirty="0"/>
            </a:pPr>
            <a:r>
              <a:t> - LAB - CA Exclude - 115 - GLOBAL - CONTROL - Register security information (0)</a:t>
            </a:r>
          </a:p>
          <a:p>
            <a:pPr defTabSz="457200">
              <a:defRPr sz="1100" b="1" dirty="0"/>
            </a:pPr>
            <a:endParaRPr/>
          </a:p>
        </p:txBody>
      </p:sp>
      <p:sp>
        <p:nvSpPr>
          <p:cNvPr id="19" name="Risks"/>
          <p:cNvSpPr txBox="1">
            <a:spLocks noChangeArrowheads="1"/>
          </p:cNvSpPr>
          <p:nvPr/>
        </p:nvSpPr>
        <p:spPr bwMode="white">
          <a:xfrm>
            <a:off x="524485" y="1021946"/>
            <a:ext cx="1348869" cy="166886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0" name="Platforms"/>
          <p:cNvSpPr txBox="1">
            <a:spLocks noChangeArrowheads="1"/>
          </p:cNvSpPr>
          <p:nvPr/>
        </p:nvSpPr>
        <p:spPr bwMode="white">
          <a:xfrm>
            <a:off x="1826931" y="1021947"/>
            <a:ext cx="2061056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3" name="Locations"/>
          <p:cNvSpPr txBox="1">
            <a:spLocks noChangeArrowheads="1"/>
          </p:cNvSpPr>
          <p:nvPr/>
        </p:nvSpPr>
        <p:spPr bwMode="white">
          <a:xfrm>
            <a:off x="8324941" y="1021947"/>
            <a:ext cx="3513702" cy="159258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4" name="ClientAppTypes"/>
          <p:cNvSpPr txBox="1">
            <a:spLocks noChangeArrowheads="1"/>
          </p:cNvSpPr>
          <p:nvPr/>
        </p:nvSpPr>
        <p:spPr bwMode="white">
          <a:xfrm>
            <a:off x="3810664" y="1021947"/>
            <a:ext cx="1581599" cy="165343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sp>
        <p:nvSpPr>
          <p:cNvPr id="25" name="DeviceFilters"/>
          <p:cNvSpPr txBox="1">
            <a:spLocks noChangeArrowheads="1"/>
          </p:cNvSpPr>
          <p:nvPr/>
        </p:nvSpPr>
        <p:spPr bwMode="white">
          <a:xfrm>
            <a:off x="5818151" y="1022762"/>
            <a:ext cx="2248808" cy="164851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US" sz="1000" dirty="0"/>
              <a:t>Not configured</a:t>
            </a:r>
          </a:p>
        </p:txBody>
      </p:sp>
      <p:cxnSp>
        <p:nvCxnSpPr>
          <p:cNvPr id="27" name="Straight Arrow Connector 26" descr="Arrow drawn from user/workload  to the action being performed by the user such as accessing cloud apps."/>
          <p:cNvCxnSpPr/>
          <p:nvPr/>
        </p:nvCxnSpPr>
        <p:spPr bwMode="white">
          <a:xfrm>
            <a:off x="2195232" y="3159047"/>
            <a:ext cx="3959471" cy="1"/>
          </a:xfrm>
          <a:prstGeom prst="straightConnector1">
            <a:avLst/>
          </a:prstGeom>
          <a:ln w="7620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GrantLabelGrantAccess"/>
          <p:cNvSpPr txBox="1">
            <a:spLocks noChangeArrowheads="1"/>
          </p:cNvSpPr>
          <p:nvPr/>
        </p:nvSpPr>
        <p:spPr bwMode="white">
          <a:xfrm>
            <a:off x="3928464" y="2723089"/>
            <a:ext cx="1381340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b="1" dirty="0">
                <a:solidFill>
                  <a:srgbClr val="00B050"/>
                </a:solidFill>
              </a:rPr>
              <a:t>Grant access</a:t>
            </a:r>
          </a:p>
        </p:txBody>
      </p:sp>
      <p:pic>
        <p:nvPicPr>
          <p:cNvPr id="35" name="IconGrantAccess" descr="Picture with gren tick sign to indicate access was granted"/>
          <p:cNvPicPr>
            <a:picLocks noChangeAspect="1"/>
          </p:cNvPicPr>
          <p:nvPr/>
        </p:nvPicPr>
        <p:blipFill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 bwMode="white">
          <a:xfrm>
            <a:off x="5309361" y="2730170"/>
            <a:ext cx="356616" cy="35661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6" name="IconGroupIdentity"/>
          <p:cNvPicPr>
            <a:picLocks noChangeAspect="1"/>
          </p:cNvPicPr>
          <p:nvPr/>
        </p:nvPicPr>
        <p:blipFill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 bwMode="white">
          <a:xfrm>
            <a:off x="327701" y="2839007"/>
            <a:ext cx="640080" cy="64008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36" name="Graphic 35"/>
          <p:cNvPicPr>
            <a:picLocks noChangeAspect="1"/>
          </p:cNvPicPr>
          <p:nvPr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 bwMode="white">
          <a:xfrm>
            <a:off x="495610" y="197468"/>
            <a:ext cx="381196" cy="38119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CloudAppAction"/>
          <p:cNvSpPr>
            <a:spLocks/>
          </p:cNvSpPr>
          <p:nvPr/>
        </p:nvSpPr>
        <p:spPr bwMode="auto">
          <a:xfrm>
            <a:off x="6206089" y="2718506"/>
            <a:ext cx="3227026" cy="89855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822960" tIns="146304" rIns="91440" bIns="146304" numCol="1" anchor="ctr">
            <a:prstTxWarp prst="textNoShape">
              <a:avLst/>
            </a:prstTxWarp>
            <a:noAutofit/>
          </a:bodyPr>
          <a:lstStyle>
            <a:defPPr defTabSz="914367">
              <a:defRPr lang="en-US" dirty="0"/>
            </a:defPPr>
            <a:lvl1pPr marL="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>
              <a:defRPr sz="1765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/>
            <a:r>
              <a:rPr lang="en-US" sz="1600" b="1" dirty="0"/>
              <a:t>Register security information</a:t>
            </a:r>
          </a:p>
        </p:txBody>
      </p:sp>
      <p:sp>
        <p:nvSpPr>
          <p:cNvPr id="8" name="StateReportOnly"/>
          <p:cNvSpPr>
            <a:spLocks/>
          </p:cNvSpPr>
          <p:nvPr/>
        </p:nvSpPr>
        <p:spPr bwMode="white">
          <a:xfrm>
            <a:off x="10842169" y="103586"/>
            <a:ext cx="1260389" cy="264812"/>
          </a:xfrm>
          <a:prstGeom prst="roundRect">
            <a:avLst/>
          </a:prstGeom>
          <a:ln>
            <a:headEnd type="none"/>
            <a:tailEnd type="none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r>
              <a:rPr lang="en-US" sz="800" dirty="0"/>
              <a:t>Policy Report-only</a:t>
            </a:r>
          </a:p>
        </p:txBody>
      </p:sp>
      <p:grpSp>
        <p:nvGrpSpPr>
          <p:cNvPr id="10" name="IconRiskyUsers"/>
          <p:cNvGrpSpPr>
            <a:grpSpLocks/>
          </p:cNvGrpSpPr>
          <p:nvPr/>
        </p:nvGrpSpPr>
        <p:grpSpPr bwMode="white">
          <a:xfrm>
            <a:off x="635426" y="738677"/>
            <a:ext cx="1202553" cy="274320"/>
            <a:chOff x="2013768" y="1033956"/>
            <a:chExt cx="1342320" cy="274320"/>
          </a:xfrm>
        </p:grpSpPr>
        <p:pic>
          <p:nvPicPr>
            <p:cNvPr id="46" name="Graphic 1"/>
            <p:cNvPicPr>
              <a:picLocks noChangeAspect="1"/>
            </p:cNvPicPr>
            <p:nvPr/>
          </p:nvPicPr>
          <p:blipFill>
            <a:blip r:embed="rId9">
              <a:lum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013768" y="1033956"/>
              <a:ext cx="274320" cy="27432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" name="Label 1"/>
            <p:cNvSpPr txBox="1">
              <a:spLocks noChangeArrowheads="1"/>
            </p:cNvSpPr>
            <p:nvPr/>
          </p:nvSpPr>
          <p:spPr bwMode="white">
            <a:xfrm>
              <a:off x="2240077" y="1040706"/>
              <a:ext cx="1116011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Risk</a:t>
              </a:r>
            </a:p>
          </p:txBody>
        </p:sp>
      </p:grpSp>
      <p:grpSp>
        <p:nvGrpSpPr>
          <p:cNvPr id="14" name="IconPlatforms"/>
          <p:cNvGrpSpPr>
            <a:grpSpLocks/>
          </p:cNvGrpSpPr>
          <p:nvPr/>
        </p:nvGrpSpPr>
        <p:grpSpPr bwMode="white">
          <a:xfrm>
            <a:off x="1927788" y="715249"/>
            <a:ext cx="1719285" cy="365760"/>
            <a:chOff x="3262737" y="994835"/>
            <a:chExt cx="1719285" cy="365760"/>
          </a:xfrm>
        </p:grpSpPr>
        <p:pic>
          <p:nvPicPr>
            <p:cNvPr id="29" name="Graphic 1"/>
            <p:cNvPicPr>
              <a:picLocks noChangeAspect="1"/>
            </p:cNvPicPr>
            <p:nvPr/>
          </p:nvPicPr>
          <p:blipFill>
            <a:blip r:embed="rId11">
              <a:lum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3262737" y="994835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1" name="Label 1"/>
            <p:cNvSpPr txBox="1">
              <a:spLocks noChangeArrowheads="1"/>
            </p:cNvSpPr>
            <p:nvPr/>
          </p:nvSpPr>
          <p:spPr bwMode="white">
            <a:xfrm>
              <a:off x="3582397" y="1027255"/>
              <a:ext cx="1399625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Device platforms</a:t>
              </a:r>
            </a:p>
          </p:txBody>
        </p:sp>
      </p:grpSp>
      <p:grpSp>
        <p:nvGrpSpPr>
          <p:cNvPr id="17" name="IconClientAppTypes"/>
          <p:cNvGrpSpPr>
            <a:grpSpLocks/>
          </p:cNvGrpSpPr>
          <p:nvPr/>
        </p:nvGrpSpPr>
        <p:grpSpPr bwMode="white">
          <a:xfrm>
            <a:off x="3908159" y="670015"/>
            <a:ext cx="1852971" cy="365760"/>
            <a:chOff x="4858970" y="975927"/>
            <a:chExt cx="1852971" cy="365760"/>
          </a:xfrm>
        </p:grpSpPr>
        <p:pic>
          <p:nvPicPr>
            <p:cNvPr id="58" name="Graphic 1"/>
            <p:cNvPicPr>
              <a:picLocks noChangeAspect="1"/>
            </p:cNvPicPr>
            <p:nvPr/>
          </p:nvPicPr>
          <p:blipFill>
            <a:blip r:embed="rId13">
              <a:lum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858970" y="975927"/>
              <a:ext cx="365760" cy="3657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5" name="Label 1"/>
            <p:cNvSpPr txBox="1">
              <a:spLocks noChangeArrowheads="1"/>
            </p:cNvSpPr>
            <p:nvPr/>
          </p:nvSpPr>
          <p:spPr bwMode="white">
            <a:xfrm>
              <a:off x="5193983" y="1009899"/>
              <a:ext cx="1517958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US" sz="1100" b="1" dirty="0"/>
                <a:t>Client apps</a:t>
              </a:r>
            </a:p>
          </p:txBody>
        </p:sp>
      </p:grpSp>
      <p:grpSp>
        <p:nvGrpSpPr>
          <p:cNvPr id="37" name="IconLocations"/>
          <p:cNvGrpSpPr>
            <a:grpSpLocks/>
          </p:cNvGrpSpPr>
          <p:nvPr/>
        </p:nvGrpSpPr>
        <p:grpSpPr bwMode="white">
          <a:xfrm>
            <a:off x="8411896" y="646848"/>
            <a:ext cx="1850168" cy="388465"/>
            <a:chOff x="2321433" y="3262888"/>
            <a:chExt cx="1850168" cy="388465"/>
          </a:xfrm>
        </p:grpSpPr>
        <p:pic>
          <p:nvPicPr>
            <p:cNvPr id="33" name="Graphic 1"/>
            <p:cNvPicPr>
              <a:picLocks noChangeAspect="1"/>
            </p:cNvPicPr>
            <p:nvPr/>
          </p:nvPicPr>
          <p:blipFill>
            <a:blip r:embed="rId15">
              <a:lum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2321433" y="3262888"/>
              <a:ext cx="388465" cy="3884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28" name="Label 1"/>
            <p:cNvSpPr txBox="1">
              <a:spLocks noChangeArrowheads="1"/>
            </p:cNvSpPr>
            <p:nvPr/>
          </p:nvSpPr>
          <p:spPr bwMode="white">
            <a:xfrm>
              <a:off x="2713321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Locations</a:t>
              </a:r>
              <a:endParaRPr lang="en-US" sz="1100" b="1" dirty="0"/>
            </a:p>
          </p:txBody>
        </p:sp>
      </p:grpSp>
      <p:grpSp>
        <p:nvGrpSpPr>
          <p:cNvPr id="39" name="IconDeviceFilters"/>
          <p:cNvGrpSpPr>
            <a:grpSpLocks/>
          </p:cNvGrpSpPr>
          <p:nvPr/>
        </p:nvGrpSpPr>
        <p:grpSpPr bwMode="white">
          <a:xfrm>
            <a:off x="5472818" y="661958"/>
            <a:ext cx="1839823" cy="364111"/>
            <a:chOff x="4195414" y="3273669"/>
            <a:chExt cx="1839823" cy="364111"/>
          </a:xfrm>
        </p:grpSpPr>
        <p:pic>
          <p:nvPicPr>
            <p:cNvPr id="60" name="Graphic 1"/>
            <p:cNvPicPr>
              <a:picLocks noChangeAspect="1"/>
            </p:cNvPicPr>
            <p:nvPr/>
          </p:nvPicPr>
          <p:blipFill>
            <a:blip r:embed="rId17">
              <a:lum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>
              <a:fillRect/>
            </a:stretch>
          </p:blipFill>
          <p:spPr bwMode="white">
            <a:xfrm>
              <a:off x="4195414" y="3273669"/>
              <a:ext cx="364111" cy="36411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1" name="Label 1"/>
            <p:cNvSpPr txBox="1">
              <a:spLocks noChangeArrowheads="1"/>
            </p:cNvSpPr>
            <p:nvPr/>
          </p:nvSpPr>
          <p:spPr bwMode="white">
            <a:xfrm>
              <a:off x="4576957" y="3311240"/>
              <a:ext cx="1458280" cy="261610"/>
            </a:xfrm>
            <a:prstGeom prst="rect">
              <a:avLst/>
            </a:prstGeom>
            <a:noFill/>
            <a:ln>
              <a:headEnd type="none"/>
              <a:tailEnd type="none"/>
            </a:ln>
          </p:spPr>
          <p:txBody>
            <a:bodyPr wrap="square">
              <a:spAutoFit/>
            </a:bodyPr>
            <a:lstStyle/>
            <a:p>
              <a:pPr defTabSz="457200"/>
              <a:r>
                <a:rPr lang="en-AU" sz="1100" b="1" dirty="0"/>
                <a:t>Filter for devices</a:t>
              </a:r>
              <a:endParaRPr lang="en-US" sz="1100" b="1" dirty="0"/>
            </a:p>
          </p:txBody>
        </p:sp>
      </p:grpSp>
      <p:pic>
        <p:nvPicPr>
          <p:cNvPr id="62" name="IconGrantMultifactorAuthentication"/>
          <p:cNvPicPr>
            <a:picLocks noChangeAspect="1"/>
          </p:cNvPicPr>
          <p:nvPr/>
        </p:nvPicPr>
        <p:blipFill>
          <a:blip r:embed="rId19"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3410647" y="3566863"/>
            <a:ext cx="17145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5" name="IconGrantMultifactorAuthenticationLabel"/>
          <p:cNvSpPr txBox="1">
            <a:spLocks noChangeArrowheads="1"/>
          </p:cNvSpPr>
          <p:nvPr/>
        </p:nvSpPr>
        <p:spPr bwMode="white">
          <a:xfrm>
            <a:off x="3575836" y="3571997"/>
            <a:ext cx="19007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Multifactor authentication</a:t>
            </a:r>
            <a:endParaRPr lang="en-US" sz="1000" dirty="0"/>
          </a:p>
        </p:txBody>
      </p:sp>
      <p:pic>
        <p:nvPicPr>
          <p:cNvPr id="38" name="IconGrantAuthenticationStrength"/>
          <p:cNvPicPr>
            <a:picLocks noChangeAspect="1"/>
          </p:cNvPicPr>
          <p:nvPr/>
        </p:nvPicPr>
        <p:blipFill>
          <a:blip r:embed="rId21"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3374515" y="3905034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7" name="IconGrantAuthenticationStrengthLabel"/>
          <p:cNvSpPr txBox="1">
            <a:spLocks noChangeArrowheads="1"/>
          </p:cNvSpPr>
          <p:nvPr/>
        </p:nvSpPr>
        <p:spPr bwMode="white">
          <a:xfrm>
            <a:off x="3575836" y="3907323"/>
            <a:ext cx="2185294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Authentication strength</a:t>
            </a:r>
            <a:endParaRPr lang="en-US" sz="1000" dirty="0"/>
          </a:p>
        </p:txBody>
      </p:sp>
      <p:pic>
        <p:nvPicPr>
          <p:cNvPr id="52" name="IconGrantDeviceCompliance"/>
          <p:cNvPicPr>
            <a:picLocks noChangeAspect="1"/>
          </p:cNvPicPr>
          <p:nvPr/>
        </p:nvPicPr>
        <p:blipFill>
          <a:blip r:embed="rId23">
            <a:lum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 bwMode="white">
          <a:xfrm>
            <a:off x="3374515" y="4243205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9" name="IconGrantDeviceComplianceLabel"/>
          <p:cNvSpPr txBox="1">
            <a:spLocks noChangeArrowheads="1"/>
          </p:cNvSpPr>
          <p:nvPr/>
        </p:nvSpPr>
        <p:spPr bwMode="white">
          <a:xfrm>
            <a:off x="3575836" y="4242649"/>
            <a:ext cx="173780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Compliant device</a:t>
            </a:r>
            <a:endParaRPr lang="en-US" sz="1000" dirty="0"/>
          </a:p>
        </p:txBody>
      </p:sp>
      <p:pic>
        <p:nvPicPr>
          <p:cNvPr id="43" name="IconGrantHybridJoined"/>
          <p:cNvPicPr>
            <a:picLocks noChangeAspect="1"/>
          </p:cNvPicPr>
          <p:nvPr/>
        </p:nvPicPr>
        <p:blipFill>
          <a:blip r:embed="rId25">
            <a:lum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 bwMode="white">
          <a:xfrm>
            <a:off x="3374515" y="4581376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3" name="IconGrantHybridJoinedLabel"/>
          <p:cNvSpPr txBox="1">
            <a:spLocks noChangeArrowheads="1"/>
          </p:cNvSpPr>
          <p:nvPr/>
        </p:nvSpPr>
        <p:spPr bwMode="white">
          <a:xfrm>
            <a:off x="3575836" y="4577975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Hybrid Azure AD joined device</a:t>
            </a:r>
            <a:endParaRPr lang="en-US" sz="1000" dirty="0"/>
          </a:p>
        </p:txBody>
      </p:sp>
      <p:pic>
        <p:nvPicPr>
          <p:cNvPr id="48" name="IconGrantApprovedClientApp"/>
          <p:cNvPicPr>
            <a:picLocks noChangeAspect="1"/>
          </p:cNvPicPr>
          <p:nvPr/>
        </p:nvPicPr>
        <p:blipFill>
          <a:blip r:embed="rId27">
            <a:lum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 bwMode="white">
          <a:xfrm>
            <a:off x="3374515" y="491954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5" name="IconGrantApprovedClientAppLabel"/>
          <p:cNvSpPr txBox="1">
            <a:spLocks noChangeArrowheads="1"/>
          </p:cNvSpPr>
          <p:nvPr/>
        </p:nvSpPr>
        <p:spPr bwMode="white">
          <a:xfrm>
            <a:off x="3575836" y="4913301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Approved client app</a:t>
            </a:r>
            <a:endParaRPr lang="en-US" sz="1000" dirty="0"/>
          </a:p>
        </p:txBody>
      </p:sp>
      <p:pic>
        <p:nvPicPr>
          <p:cNvPr id="42" name="IconGrantCustomAuth"/>
          <p:cNvPicPr>
            <a:picLocks noChangeAspect="1"/>
          </p:cNvPicPr>
          <p:nvPr/>
        </p:nvPicPr>
        <p:blipFill>
          <a:blip r:embed="rId29"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 bwMode="white">
          <a:xfrm>
            <a:off x="3374515" y="593406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9" name="IconGrantCustomAuthLabel"/>
          <p:cNvSpPr txBox="1">
            <a:spLocks noChangeArrowheads="1"/>
          </p:cNvSpPr>
          <p:nvPr/>
        </p:nvSpPr>
        <p:spPr bwMode="white">
          <a:xfrm>
            <a:off x="3575836" y="5919279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Custom authentication factor</a:t>
            </a:r>
            <a:endParaRPr lang="en-US" sz="1000" dirty="0"/>
          </a:p>
        </p:txBody>
      </p:sp>
      <p:pic>
        <p:nvPicPr>
          <p:cNvPr id="40" name="IconGrantTermsOfUse"/>
          <p:cNvPicPr>
            <a:picLocks noChangeAspect="1"/>
          </p:cNvPicPr>
          <p:nvPr/>
        </p:nvPicPr>
        <p:blipFill>
          <a:blip r:embed="rId31">
            <a:lum/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 bwMode="white">
          <a:xfrm>
            <a:off x="3374515" y="627222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3" name="IconGrantTermsOfUseLabel"/>
          <p:cNvSpPr txBox="1">
            <a:spLocks noChangeArrowheads="1"/>
          </p:cNvSpPr>
          <p:nvPr/>
        </p:nvSpPr>
        <p:spPr bwMode="white">
          <a:xfrm>
            <a:off x="3575836" y="625460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 defTabSz="457200"/>
            <a:r>
              <a:rPr lang="en-AU" sz="1000" dirty="0"/>
              <a:t>Terms of use</a:t>
            </a:r>
            <a:endParaRPr lang="en-US" sz="1000" dirty="0"/>
          </a:p>
        </p:txBody>
      </p:sp>
      <p:sp>
        <p:nvSpPr>
          <p:cNvPr id="56" name="IconGrantAppProtectionLabel"/>
          <p:cNvSpPr txBox="1">
            <a:spLocks noChangeArrowheads="1"/>
          </p:cNvSpPr>
          <p:nvPr/>
        </p:nvSpPr>
        <p:spPr bwMode="white">
          <a:xfrm>
            <a:off x="3575836" y="5248627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App protection policy</a:t>
            </a:r>
            <a:endParaRPr lang="en-US" sz="1000" dirty="0"/>
          </a:p>
        </p:txBody>
      </p:sp>
      <p:pic>
        <p:nvPicPr>
          <p:cNvPr id="65" name="IconGrantAppProtection"/>
          <p:cNvPicPr>
            <a:picLocks noChangeAspect="1"/>
          </p:cNvPicPr>
          <p:nvPr/>
        </p:nvPicPr>
        <p:blipFill>
          <a:blip r:embed="rId33">
            <a:lum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 bwMode="white">
          <a:xfrm>
            <a:off x="3374515" y="5257718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69" name="IconAccessMySecurityInfo"/>
          <p:cNvPicPr>
            <a:picLocks noChangeAspect="1"/>
          </p:cNvPicPr>
          <p:nvPr/>
        </p:nvPicPr>
        <p:blipFill>
          <a:blip r:embed="rId35">
            <a:lum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 bwMode="white">
          <a:xfrm>
            <a:off x="6451371" y="2882544"/>
            <a:ext cx="548640" cy="54864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7" name="IconGrantChangePasswordLabel"/>
          <p:cNvSpPr txBox="1">
            <a:spLocks noChangeArrowheads="1"/>
          </p:cNvSpPr>
          <p:nvPr/>
        </p:nvSpPr>
        <p:spPr bwMode="white">
          <a:xfrm>
            <a:off x="3575836" y="5583953"/>
            <a:ext cx="2050646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AU" sz="1000" dirty="0"/>
              <a:t>Change password</a:t>
            </a:r>
            <a:endParaRPr lang="en-US" sz="1000" dirty="0"/>
          </a:p>
        </p:txBody>
      </p:sp>
      <p:pic>
        <p:nvPicPr>
          <p:cNvPr id="67" name="IconGrantChangePassword"/>
          <p:cNvPicPr>
            <a:picLocks noChangeAspect="1"/>
          </p:cNvPicPr>
          <p:nvPr/>
        </p:nvPicPr>
        <p:blipFill>
          <a:blip r:embed="rId37">
            <a:lum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 bwMode="white">
          <a:xfrm>
            <a:off x="3374515" y="5595889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4" name="ShadeRisk"/>
          <p:cNvSpPr>
            <a:spLocks/>
          </p:cNvSpPr>
          <p:nvPr/>
        </p:nvSpPr>
        <p:spPr bwMode="white">
          <a:xfrm>
            <a:off x="507564" y="650246"/>
            <a:ext cx="97686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66" name="ShadeDevicePlatforms"/>
          <p:cNvSpPr>
            <a:spLocks/>
          </p:cNvSpPr>
          <p:nvPr/>
        </p:nvSpPr>
        <p:spPr bwMode="white">
          <a:xfrm>
            <a:off x="1863623" y="663409"/>
            <a:ext cx="1773927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8" name="ShadeClientApps"/>
          <p:cNvSpPr>
            <a:spLocks/>
          </p:cNvSpPr>
          <p:nvPr/>
        </p:nvSpPr>
        <p:spPr bwMode="white">
          <a:xfrm>
            <a:off x="3802273" y="650246"/>
            <a:ext cx="1481482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79" name="ShadeLocations"/>
          <p:cNvSpPr>
            <a:spLocks/>
          </p:cNvSpPr>
          <p:nvPr/>
        </p:nvSpPr>
        <p:spPr bwMode="white">
          <a:xfrm>
            <a:off x="8217572" y="669110"/>
            <a:ext cx="1873684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2" name="ShadeFilterForDevices"/>
          <p:cNvSpPr>
            <a:spLocks/>
          </p:cNvSpPr>
          <p:nvPr/>
        </p:nvSpPr>
        <p:spPr bwMode="white">
          <a:xfrm>
            <a:off x="5438955" y="627922"/>
            <a:ext cx="1873685" cy="7255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3" name="ShadeGrantMultifactorAuth"/>
          <p:cNvSpPr>
            <a:spLocks/>
          </p:cNvSpPr>
          <p:nvPr/>
        </p:nvSpPr>
        <p:spPr bwMode="white">
          <a:xfrm>
            <a:off x="3369399" y="3534220"/>
            <a:ext cx="2069555" cy="2833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4" name="ShadeGrantAuthStrength"/>
          <p:cNvSpPr>
            <a:spLocks/>
          </p:cNvSpPr>
          <p:nvPr/>
        </p:nvSpPr>
        <p:spPr bwMode="white">
          <a:xfrm>
            <a:off x="3350256" y="3869846"/>
            <a:ext cx="2069555" cy="2780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5" name="ShadeGrantCompliantDevice"/>
          <p:cNvSpPr>
            <a:spLocks/>
          </p:cNvSpPr>
          <p:nvPr/>
        </p:nvSpPr>
        <p:spPr bwMode="white">
          <a:xfrm>
            <a:off x="3361852" y="4243205"/>
            <a:ext cx="2077102" cy="26110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6" name="ShadeGrantHybridAzureADJoined"/>
          <p:cNvSpPr>
            <a:spLocks/>
          </p:cNvSpPr>
          <p:nvPr/>
        </p:nvSpPr>
        <p:spPr bwMode="white">
          <a:xfrm>
            <a:off x="3353637" y="4552268"/>
            <a:ext cx="2160906" cy="2983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7" name="ShadeGrantApprovedClientApp"/>
          <p:cNvSpPr>
            <a:spLocks/>
          </p:cNvSpPr>
          <p:nvPr/>
        </p:nvSpPr>
        <p:spPr bwMode="white">
          <a:xfrm>
            <a:off x="3331918" y="4876027"/>
            <a:ext cx="2182625" cy="2983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8" name="ShadeGrantAppProtectionPolicy"/>
          <p:cNvSpPr>
            <a:spLocks/>
          </p:cNvSpPr>
          <p:nvPr/>
        </p:nvSpPr>
        <p:spPr bwMode="white">
          <a:xfrm>
            <a:off x="3350256" y="5207226"/>
            <a:ext cx="2122561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89" name="ShadeGrantChangePassword"/>
          <p:cNvSpPr>
            <a:spLocks/>
          </p:cNvSpPr>
          <p:nvPr/>
        </p:nvSpPr>
        <p:spPr bwMode="white">
          <a:xfrm>
            <a:off x="3350257" y="5557021"/>
            <a:ext cx="2042006" cy="2872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0" name="ShadeGrantCustomAuthFactor"/>
          <p:cNvSpPr>
            <a:spLocks/>
          </p:cNvSpPr>
          <p:nvPr/>
        </p:nvSpPr>
        <p:spPr bwMode="white">
          <a:xfrm>
            <a:off x="3331918" y="5899058"/>
            <a:ext cx="2182625" cy="29387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91" name="ShadeGrantTermsOfUse"/>
          <p:cNvSpPr>
            <a:spLocks/>
          </p:cNvSpPr>
          <p:nvPr/>
        </p:nvSpPr>
        <p:spPr bwMode="white">
          <a:xfrm>
            <a:off x="3313823" y="6192350"/>
            <a:ext cx="101602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99" name="Rectangle 98"/>
          <p:cNvSpPr>
            <a:spLocks/>
          </p:cNvSpPr>
          <p:nvPr/>
        </p:nvSpPr>
        <p:spPr bwMode="white">
          <a:xfrm>
            <a:off x="3268757" y="3253404"/>
            <a:ext cx="2357725" cy="3498546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0" name="Rectangle 109"/>
          <p:cNvSpPr>
            <a:spLocks/>
          </p:cNvSpPr>
          <p:nvPr/>
        </p:nvSpPr>
        <p:spPr bwMode="white">
          <a:xfrm>
            <a:off x="9881750" y="3248255"/>
            <a:ext cx="2220808" cy="3510149"/>
          </a:xfrm>
          <a:prstGeom prst="rect">
            <a:avLst/>
          </a:prstGeom>
          <a:noFill/>
          <a:ln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7" name="Rectangle 116"/>
          <p:cNvSpPr>
            <a:spLocks/>
          </p:cNvSpPr>
          <p:nvPr/>
        </p:nvSpPr>
        <p:spPr bwMode="white">
          <a:xfrm>
            <a:off x="26741" y="606825"/>
            <a:ext cx="11985015" cy="206363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/>
          <a:lstStyle/>
          <a:p>
            <a:pPr algn="ctr" defTabSz="457200"/>
            <a:endParaRPr lang="en-US" dirty="0"/>
          </a:p>
        </p:txBody>
      </p:sp>
      <p:sp>
        <p:nvSpPr>
          <p:cNvPr id="112" name="Conditions Label"/>
          <p:cNvSpPr txBox="1">
            <a:spLocks noChangeArrowheads="1"/>
          </p:cNvSpPr>
          <p:nvPr/>
        </p:nvSpPr>
        <p:spPr bwMode="white">
          <a:xfrm rot="16200000">
            <a:off x="-883507" y="1514324"/>
            <a:ext cx="2081441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Conditions</a:t>
            </a:r>
          </a:p>
        </p:txBody>
      </p:sp>
      <p:sp>
        <p:nvSpPr>
          <p:cNvPr id="109" name="Grant Controls"/>
          <p:cNvSpPr txBox="1">
            <a:spLocks noChangeArrowheads="1"/>
          </p:cNvSpPr>
          <p:nvPr/>
        </p:nvSpPr>
        <p:spPr bwMode="white">
          <a:xfrm>
            <a:off x="3252146" y="3244395"/>
            <a:ext cx="2391873" cy="23083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Grant Controls</a:t>
            </a:r>
          </a:p>
        </p:txBody>
      </p:sp>
      <p:sp>
        <p:nvSpPr>
          <p:cNvPr id="111" name="Session Controls"/>
          <p:cNvSpPr txBox="1">
            <a:spLocks noChangeArrowheads="1"/>
          </p:cNvSpPr>
          <p:nvPr/>
        </p:nvSpPr>
        <p:spPr bwMode="white">
          <a:xfrm>
            <a:off x="9864212" y="3243751"/>
            <a:ext cx="2238346" cy="237862"/>
          </a:xfrm>
          <a:prstGeom prst="rect">
            <a:avLst/>
          </a:prstGeom>
          <a:ln>
            <a:headEnd type="none"/>
            <a:tailEnd type="none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457200"/>
            <a:r>
              <a:rPr lang="en-US" sz="900" b="1" dirty="0"/>
              <a:t>Session Controls</a:t>
            </a:r>
          </a:p>
        </p:txBody>
      </p:sp>
      <p:pic>
        <p:nvPicPr>
          <p:cNvPr id="72" name="Graphic 71"/>
          <p:cNvPicPr>
            <a:picLocks noChangeAspect="1"/>
          </p:cNvPicPr>
          <p:nvPr/>
        </p:nvPicPr>
        <p:blipFill>
          <a:blip r:embed="rId39">
            <a:lum/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 bwMode="white">
          <a:xfrm>
            <a:off x="9996846" y="356982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4" name="Graphic 93"/>
          <p:cNvPicPr>
            <a:picLocks noChangeAspect="1"/>
          </p:cNvPicPr>
          <p:nvPr/>
        </p:nvPicPr>
        <p:blipFill>
          <a:blip r:embed="rId41">
            <a:lum/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 bwMode="white">
          <a:xfrm>
            <a:off x="10009443" y="525644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white">
          <a:xfrm>
            <a:off x="10207481" y="3578463"/>
            <a:ext cx="150554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App enforced restrictions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white">
          <a:xfrm>
            <a:off x="10201167" y="3899846"/>
            <a:ext cx="181011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Conditional Access App Control</a:t>
            </a: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white">
          <a:xfrm>
            <a:off x="10215627" y="4357505"/>
            <a:ext cx="1090363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Sign-in frequency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white">
          <a:xfrm>
            <a:off x="10225446" y="4793305"/>
            <a:ext cx="1569660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Persistent browser session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white">
          <a:xfrm>
            <a:off x="10229552" y="5232376"/>
            <a:ext cx="1717137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Continuous access evaluation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white">
          <a:xfrm>
            <a:off x="10259108" y="5658625"/>
            <a:ext cx="1535998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Disable resilience defaults</a:t>
            </a:r>
          </a:p>
        </p:txBody>
      </p:sp>
      <p:pic>
        <p:nvPicPr>
          <p:cNvPr id="103" name="Graphic 102"/>
          <p:cNvPicPr>
            <a:picLocks noChangeAspect="1"/>
          </p:cNvPicPr>
          <p:nvPr/>
        </p:nvPicPr>
        <p:blipFill>
          <a:blip r:embed="rId43">
            <a:lum/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 bwMode="white">
          <a:xfrm>
            <a:off x="9996846" y="4799001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5" name="Graphic 104"/>
          <p:cNvPicPr>
            <a:picLocks noChangeAspect="1"/>
          </p:cNvPicPr>
          <p:nvPr/>
        </p:nvPicPr>
        <p:blipFill>
          <a:blip r:embed="rId45">
            <a:lum/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 bwMode="white">
          <a:xfrm>
            <a:off x="9996846" y="4374570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7" name="Graphic 106"/>
          <p:cNvPicPr>
            <a:picLocks noChangeAspect="1"/>
          </p:cNvPicPr>
          <p:nvPr/>
        </p:nvPicPr>
        <p:blipFill>
          <a:blip r:embed="rId47">
            <a:lum/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 bwMode="white">
          <a:xfrm>
            <a:off x="9996846" y="3915297"/>
            <a:ext cx="228600" cy="228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15" name="SessionSifInterval"/>
          <p:cNvSpPr txBox="1">
            <a:spLocks noChangeArrowheads="1"/>
          </p:cNvSpPr>
          <p:nvPr/>
        </p:nvSpPr>
        <p:spPr bwMode="white">
          <a:xfrm>
            <a:off x="10296745" y="4516775"/>
            <a:ext cx="1249060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Every time</a:t>
            </a:r>
          </a:p>
        </p:txBody>
      </p:sp>
      <p:sp>
        <p:nvSpPr>
          <p:cNvPr id="114" name="SessionCasType"/>
          <p:cNvSpPr txBox="1">
            <a:spLocks noChangeArrowheads="1"/>
          </p:cNvSpPr>
          <p:nvPr/>
        </p:nvSpPr>
        <p:spPr bwMode="white">
          <a:xfrm>
            <a:off x="10296745" y="4075500"/>
            <a:ext cx="95410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App Control Policy</a:t>
            </a:r>
          </a:p>
        </p:txBody>
      </p:sp>
      <p:sp>
        <p:nvSpPr>
          <p:cNvPr id="116" name="SessionPersistenBrowserMode"/>
          <p:cNvSpPr txBox="1">
            <a:spLocks noChangeArrowheads="1"/>
          </p:cNvSpPr>
          <p:nvPr/>
        </p:nvSpPr>
        <p:spPr bwMode="white">
          <a:xfrm>
            <a:off x="10309761" y="4945281"/>
            <a:ext cx="918841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800" dirty="0"/>
              <a:t>Always persistent</a:t>
            </a:r>
          </a:p>
        </p:txBody>
      </p:sp>
      <p:sp>
        <p:nvSpPr>
          <p:cNvPr id="118" name="SessionCaeMode"/>
          <p:cNvSpPr txBox="1">
            <a:spLocks noChangeArrowheads="1"/>
          </p:cNvSpPr>
          <p:nvPr/>
        </p:nvSpPr>
        <p:spPr bwMode="white">
          <a:xfrm>
            <a:off x="10301386" y="5393378"/>
            <a:ext cx="15359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457200"/>
            <a:r>
              <a:rPr lang="en-US" sz="800" dirty="0"/>
              <a:t>Strictly enforce location policies</a:t>
            </a:r>
          </a:p>
        </p:txBody>
      </p:sp>
      <p:sp>
        <p:nvSpPr>
          <p:cNvPr id="119" name="ShadeSessionAppEnforced"/>
          <p:cNvSpPr>
            <a:spLocks/>
          </p:cNvSpPr>
          <p:nvPr/>
        </p:nvSpPr>
        <p:spPr bwMode="white">
          <a:xfrm>
            <a:off x="9959680" y="3548808"/>
            <a:ext cx="2051597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0" name="ShadeSessionCas"/>
          <p:cNvSpPr>
            <a:spLocks/>
          </p:cNvSpPr>
          <p:nvPr/>
        </p:nvSpPr>
        <p:spPr bwMode="white">
          <a:xfrm>
            <a:off x="9978939" y="3884212"/>
            <a:ext cx="2087576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122" name="ShadeSessionPersistentBrowser"/>
          <p:cNvSpPr>
            <a:spLocks/>
          </p:cNvSpPr>
          <p:nvPr/>
        </p:nvSpPr>
        <p:spPr bwMode="white">
          <a:xfrm>
            <a:off x="9938833" y="4746195"/>
            <a:ext cx="2072444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61" name="PicAccessSecurityInfo" descr="Graphical user interface, text, application, email&#10;&#10;Description automatically generated"/>
          <p:cNvPicPr>
            <a:picLocks noChangeAspect="1"/>
          </p:cNvPicPr>
          <p:nvPr/>
        </p:nvPicPr>
        <p:blipFill>
          <a:blip r:embed="rId49">
            <a:lum/>
          </a:blip>
          <a:srcRect/>
          <a:stretch>
            <a:fillRect/>
          </a:stretch>
        </p:blipFill>
        <p:spPr bwMode="white">
          <a:xfrm>
            <a:off x="6019248" y="3736425"/>
            <a:ext cx="3673090" cy="209417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Label Secure Sign In Session"/>
          <p:cNvSpPr txBox="1">
            <a:spLocks noChangeArrowheads="1"/>
          </p:cNvSpPr>
          <p:nvPr/>
        </p:nvSpPr>
        <p:spPr bwMode="white">
          <a:xfrm>
            <a:off x="10260000" y="6084874"/>
            <a:ext cx="1665841" cy="246221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none">
            <a:spAutoFit/>
          </a:bodyPr>
          <a:lstStyle/>
          <a:p>
            <a:pPr defTabSz="457200"/>
            <a:r>
              <a:rPr lang="en-US" sz="1000" dirty="0"/>
              <a:t>Token protection for session</a:t>
            </a:r>
          </a:p>
        </p:txBody>
      </p:sp>
      <p:pic>
        <p:nvPicPr>
          <p:cNvPr id="77" name="IconSessionCaeDisable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79885" y="5218651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2" name="IconSessionSecureSignInSession 1"/>
          <p:cNvPicPr>
            <a:picLocks noChangeAspect="1"/>
          </p:cNvPicPr>
          <p:nvPr/>
        </p:nvPicPr>
        <p:blipFill>
          <a:blip r:embed="rId52">
            <a:lum/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 bwMode="white">
          <a:xfrm>
            <a:off x="9997200" y="6085768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ShadeSessionCae"/>
          <p:cNvSpPr>
            <a:spLocks/>
          </p:cNvSpPr>
          <p:nvPr/>
        </p:nvSpPr>
        <p:spPr bwMode="white">
          <a:xfrm>
            <a:off x="9987595" y="5219780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76" name="ShadeSessionSecureSignIn"/>
          <p:cNvSpPr>
            <a:spLocks/>
          </p:cNvSpPr>
          <p:nvPr/>
        </p:nvSpPr>
        <p:spPr bwMode="white">
          <a:xfrm>
            <a:off x="9996846" y="5986498"/>
            <a:ext cx="2014431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 r:embed="rId54">
            <a:lum/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 bwMode="white">
          <a:xfrm>
            <a:off x="9997200" y="5663777"/>
            <a:ext cx="230400" cy="2304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80" name="Graphic 79" descr="Close with solid fill"/>
          <p:cNvPicPr>
            <a:picLocks noChangeAspect="1"/>
          </p:cNvPicPr>
          <p:nvPr/>
        </p:nvPicPr>
        <p:blipFill>
          <a:blip r:embed="rId50">
            <a:lum/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 bwMode="white">
          <a:xfrm>
            <a:off x="9963899" y="5637424"/>
            <a:ext cx="296075" cy="2960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4" name="ShadeSessionDisableResilience"/>
          <p:cNvSpPr>
            <a:spLocks/>
          </p:cNvSpPr>
          <p:nvPr/>
        </p:nvSpPr>
        <p:spPr bwMode="white">
          <a:xfrm>
            <a:off x="9959681" y="5602709"/>
            <a:ext cx="2023682" cy="3693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defTabSz="457200"/>
            <a:endParaRPr lang="en-US" dirty="0"/>
          </a:p>
        </p:txBody>
      </p:sp>
      <p:sp>
        <p:nvSpPr>
          <p:cNvPr id="2" name="PolicyName">
            <a:hlinkClick r:id="" action="ppaction://hlinkfile"/>
          </p:cNvPr>
          <p:cNvSpPr>
            <a:spLocks noGrp="1"/>
          </p:cNvSpPr>
          <p:nvPr>
            <p:ph type="title"/>
          </p:nvPr>
        </p:nvSpPr>
        <p:spPr bwMode="white">
          <a:xfrm>
            <a:off x="838200" y="115511"/>
            <a:ext cx="10003967" cy="609565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defTabSz="914400"/>
            <a:r>
              <a:rPr lang="en-US" sz="2000" b="1" dirty="0"/>
              <a:t>LAB - 115 - GLOBAL - CONTROL - Register security information</a:t>
            </a:r>
          </a:p>
        </p:txBody>
      </p:sp>
      <p:sp>
        <p:nvSpPr>
          <p:cNvPr id="16" name="LastModified"/>
          <p:cNvSpPr txBox="1">
            <a:spLocks noChangeArrowheads="1"/>
          </p:cNvSpPr>
          <p:nvPr/>
        </p:nvSpPr>
        <p:spPr bwMode="white">
          <a:xfrm>
            <a:off x="10556111" y="388376"/>
            <a:ext cx="1548397" cy="21544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457200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Last modified: 2025-05-14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4157</TotalTime>
  <Pages>0</Pages>
  <Words>11852</Words>
  <Characters>0</Characters>
  <Application>Microsoft Macintosh PowerPoint</Application>
  <PresentationFormat>Widescreen</PresentationFormat>
  <Lines>0</Lines>
  <Paragraphs>1156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Slipstream</vt:lpstr>
      <vt:lpstr>LAB - 000 - GLOBAL - DENY - Legacy Authentication</vt:lpstr>
      <vt:lpstr>LAB - 005 - GLOBAL - DENY - Device Code Auth Flow</vt:lpstr>
      <vt:lpstr>LAB - 010 - GLOBAL - DENY - Device Platforms</vt:lpstr>
      <vt:lpstr>LAB - 015 - GLOBAL - DENY - Block Countries with exception</vt:lpstr>
      <vt:lpstr>LAB - 020 - GLOBAL - DENY - Blocked Risky Countries</vt:lpstr>
      <vt:lpstr>LAB - 025 - GLOBAL - DENY - Service Accounts with exception</vt:lpstr>
      <vt:lpstr>LAB - 030 - GLOBAL - DENY - Access to Admin Portals for Guests</vt:lpstr>
      <vt:lpstr>LAB - 035 - GLOBAL - DENY - High Sign-in Risks</vt:lpstr>
      <vt:lpstr>LAB - 040 - GLOBAL - DENY - High User Risks</vt:lpstr>
      <vt:lpstr>LAB - 045 - GLOBAL - DENY - Stolen Devices</vt:lpstr>
      <vt:lpstr>LAB - 050 - GLOBAL - ALLOW - Medium Sign-in Risks</vt:lpstr>
      <vt:lpstr>LAB - 055 - GLOBAL - ALLOW - Medium User Risks</vt:lpstr>
      <vt:lpstr>LAB - 060 - GLOBAL - ALLOW - Admins with PR MFA</vt:lpstr>
      <vt:lpstr>LAB - 065 - GLOBAL - ALLOW - Mobile apps and desktop clients</vt:lpstr>
      <vt:lpstr>LAB - 070 - GLOBAL - ALLOW - Users with MFA</vt:lpstr>
      <vt:lpstr>LAB - 080 - GLOBAL - ALLOW - Users RegisterOrJoin device with MFA</vt:lpstr>
      <vt:lpstr>LAB - 100 - GLOBAL - CONTROL - Sign-In Frequency for Admins</vt:lpstr>
      <vt:lpstr>LAB - 105 - GLOBAL - CONTROL - Sign-In Frequency for Users</vt:lpstr>
      <vt:lpstr>LAB - 110 - GLOBAL - CONTROL - BYOD devices</vt:lpstr>
      <vt:lpstr>LAB - 115 - GLOBAL - CONTROL - Register security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Policy Documentation</dc:title>
  <dc:subject>Conditional Access</dc:subject>
  <dc:creator>Merill Fernando (HE/HIM)</dc:creator>
  <cp:lastModifiedBy>Robert Przybylski</cp:lastModifiedBy>
  <cp:revision>388</cp:revision>
  <dcterms:created xsi:type="dcterms:W3CDTF">2022-02-27T10:26:08Z</dcterms:created>
  <dcterms:modified xsi:type="dcterms:W3CDTF">2025-05-14T19:32:00Z</dcterms:modified>
</cp:coreProperties>
</file>